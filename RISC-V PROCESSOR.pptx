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0"/>
  </p:notesMasterIdLst>
  <p:sldIdLst>
    <p:sldId id="265" r:id="rId2"/>
    <p:sldId id="257" r:id="rId3"/>
    <p:sldId id="258" r:id="rId4"/>
    <p:sldId id="274" r:id="rId5"/>
    <p:sldId id="275" r:id="rId6"/>
    <p:sldId id="259" r:id="rId7"/>
    <p:sldId id="276" r:id="rId8"/>
    <p:sldId id="267" r:id="rId9"/>
    <p:sldId id="277" r:id="rId10"/>
    <p:sldId id="278" r:id="rId11"/>
    <p:sldId id="279" r:id="rId12"/>
    <p:sldId id="280" r:id="rId13"/>
    <p:sldId id="261" r:id="rId14"/>
    <p:sldId id="263" r:id="rId15"/>
    <p:sldId id="272" r:id="rId16"/>
    <p:sldId id="281" r:id="rId17"/>
    <p:sldId id="270" r:id="rId18"/>
    <p:sldId id="271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51" autoAdjust="0"/>
    <p:restoredTop sz="79520" autoAdjust="0"/>
  </p:normalViewPr>
  <p:slideViewPr>
    <p:cSldViewPr snapToGrid="0">
      <p:cViewPr>
        <p:scale>
          <a:sx n="75" d="100"/>
          <a:sy n="75" d="100"/>
        </p:scale>
        <p:origin x="1128" y="-37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54516CC-4017-46A5-B1EC-51EB3F581ACE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F04E266-FD18-410E-A579-AF7C1A1182A3}">
      <dgm:prSet custT="1"/>
      <dgm:spPr/>
      <dgm:t>
        <a:bodyPr/>
        <a:lstStyle/>
        <a:p>
          <a:r>
            <a:rPr lang="en-IN" sz="2800" b="1" dirty="0"/>
            <a:t>History of RISC</a:t>
          </a:r>
          <a:endParaRPr lang="en-IN" sz="2800" dirty="0"/>
        </a:p>
      </dgm:t>
    </dgm:pt>
    <dgm:pt modelId="{21316BA7-6324-4022-8569-1E69BA89782B}" type="parTrans" cxnId="{3F769D11-B1A6-4B0D-B7BA-7B7D877DB714}">
      <dgm:prSet/>
      <dgm:spPr/>
      <dgm:t>
        <a:bodyPr/>
        <a:lstStyle/>
        <a:p>
          <a:endParaRPr lang="en-IN"/>
        </a:p>
      </dgm:t>
    </dgm:pt>
    <dgm:pt modelId="{4903DAFB-6A3A-4681-89F6-201314FBA90C}" type="sibTrans" cxnId="{3F769D11-B1A6-4B0D-B7BA-7B7D877DB714}">
      <dgm:prSet/>
      <dgm:spPr/>
      <dgm:t>
        <a:bodyPr/>
        <a:lstStyle/>
        <a:p>
          <a:endParaRPr lang="en-IN"/>
        </a:p>
      </dgm:t>
    </dgm:pt>
    <dgm:pt modelId="{01241677-917A-4E24-8F29-ED815E6AD05D}">
      <dgm:prSet/>
      <dgm:spPr/>
      <dgm:t>
        <a:bodyPr/>
        <a:lstStyle/>
        <a:p>
          <a:r>
            <a:rPr lang="en-US" dirty="0"/>
            <a:t>RISC concept introduced in 1980s</a:t>
          </a:r>
          <a:endParaRPr lang="en-IN" dirty="0"/>
        </a:p>
      </dgm:t>
    </dgm:pt>
    <dgm:pt modelId="{425972EE-EE92-44D9-888F-4A237DB69F6E}" type="parTrans" cxnId="{A65C38C1-4B29-4865-8554-B565C61CBAD3}">
      <dgm:prSet/>
      <dgm:spPr/>
      <dgm:t>
        <a:bodyPr/>
        <a:lstStyle/>
        <a:p>
          <a:endParaRPr lang="en-IN"/>
        </a:p>
      </dgm:t>
    </dgm:pt>
    <dgm:pt modelId="{4393BEEA-E1C5-4A25-A2E6-7E179AC99007}" type="sibTrans" cxnId="{A65C38C1-4B29-4865-8554-B565C61CBAD3}">
      <dgm:prSet/>
      <dgm:spPr/>
      <dgm:t>
        <a:bodyPr/>
        <a:lstStyle/>
        <a:p>
          <a:endParaRPr lang="en-IN"/>
        </a:p>
      </dgm:t>
    </dgm:pt>
    <dgm:pt modelId="{3070D2E3-F5DF-4EED-A010-834A143FF1E4}">
      <dgm:prSet/>
      <dgm:spPr/>
      <dgm:t>
        <a:bodyPr/>
        <a:lstStyle/>
        <a:p>
          <a:r>
            <a:rPr lang="en-IN" dirty="0"/>
            <a:t>Focus on simple instructions</a:t>
          </a:r>
        </a:p>
      </dgm:t>
    </dgm:pt>
    <dgm:pt modelId="{6143A9AA-E6AA-4808-9438-604CE3693D8C}" type="parTrans" cxnId="{F1698748-ACDE-492C-812F-2001A5EF4708}">
      <dgm:prSet/>
      <dgm:spPr/>
      <dgm:t>
        <a:bodyPr/>
        <a:lstStyle/>
        <a:p>
          <a:endParaRPr lang="en-IN"/>
        </a:p>
      </dgm:t>
    </dgm:pt>
    <dgm:pt modelId="{432BE5E1-E94D-4A65-8666-7D7C87BF6FE2}" type="sibTrans" cxnId="{F1698748-ACDE-492C-812F-2001A5EF4708}">
      <dgm:prSet/>
      <dgm:spPr/>
      <dgm:t>
        <a:bodyPr/>
        <a:lstStyle/>
        <a:p>
          <a:endParaRPr lang="en-IN"/>
        </a:p>
      </dgm:t>
    </dgm:pt>
    <dgm:pt modelId="{D3BD07E1-D8AB-485F-A7C4-BD1B7954A859}">
      <dgm:prSet/>
      <dgm:spPr/>
      <dgm:t>
        <a:bodyPr/>
        <a:lstStyle/>
        <a:p>
          <a:r>
            <a:rPr lang="en-IN" dirty="0"/>
            <a:t>Improved pipeline efficiency</a:t>
          </a:r>
        </a:p>
      </dgm:t>
    </dgm:pt>
    <dgm:pt modelId="{6737EBB6-5170-4F3B-84A5-6FC73A11FBE4}" type="parTrans" cxnId="{2AA87C4A-016B-41AC-AF1D-779B6DB66029}">
      <dgm:prSet/>
      <dgm:spPr/>
      <dgm:t>
        <a:bodyPr/>
        <a:lstStyle/>
        <a:p>
          <a:endParaRPr lang="en-IN"/>
        </a:p>
      </dgm:t>
    </dgm:pt>
    <dgm:pt modelId="{846A7934-0846-4765-A873-DC73ED03DE19}" type="sibTrans" cxnId="{2AA87C4A-016B-41AC-AF1D-779B6DB66029}">
      <dgm:prSet/>
      <dgm:spPr/>
      <dgm:t>
        <a:bodyPr/>
        <a:lstStyle/>
        <a:p>
          <a:endParaRPr lang="en-IN"/>
        </a:p>
      </dgm:t>
    </dgm:pt>
    <dgm:pt modelId="{2B71C819-3323-4069-B626-42942D746D19}">
      <dgm:prSet/>
      <dgm:spPr/>
      <dgm:t>
        <a:bodyPr/>
        <a:lstStyle/>
        <a:p>
          <a:r>
            <a:rPr lang="en-IN" dirty="0"/>
            <a:t>Reduced hardware complexity</a:t>
          </a:r>
        </a:p>
      </dgm:t>
    </dgm:pt>
    <dgm:pt modelId="{EC537CBC-3DD8-4901-A4FC-42435DB8475A}" type="parTrans" cxnId="{35FCC6BE-454C-4272-B223-E71EE03378DE}">
      <dgm:prSet/>
      <dgm:spPr/>
      <dgm:t>
        <a:bodyPr/>
        <a:lstStyle/>
        <a:p>
          <a:endParaRPr lang="en-IN"/>
        </a:p>
      </dgm:t>
    </dgm:pt>
    <dgm:pt modelId="{E032A1C1-EE0B-4BD0-B654-89DF9980D263}" type="sibTrans" cxnId="{35FCC6BE-454C-4272-B223-E71EE03378DE}">
      <dgm:prSet/>
      <dgm:spPr/>
      <dgm:t>
        <a:bodyPr/>
        <a:lstStyle/>
        <a:p>
          <a:endParaRPr lang="en-IN"/>
        </a:p>
      </dgm:t>
    </dgm:pt>
    <dgm:pt modelId="{2C91EE73-23FF-40D7-B7A0-30966D08A446}">
      <dgm:prSet/>
      <dgm:spPr/>
      <dgm:t>
        <a:bodyPr/>
        <a:lstStyle/>
        <a:p>
          <a:r>
            <a:rPr lang="en-IN" dirty="0"/>
            <a:t>Foundations for modern ISAs</a:t>
          </a:r>
        </a:p>
      </dgm:t>
    </dgm:pt>
    <dgm:pt modelId="{F55BB39E-E4B1-44CE-B63C-AE868E1421D5}" type="parTrans" cxnId="{1DDC5FC7-4A13-4697-85CA-1B29C9B8F075}">
      <dgm:prSet/>
      <dgm:spPr/>
      <dgm:t>
        <a:bodyPr/>
        <a:lstStyle/>
        <a:p>
          <a:endParaRPr lang="en-IN"/>
        </a:p>
      </dgm:t>
    </dgm:pt>
    <dgm:pt modelId="{5E7990F6-D991-4D8B-AC6E-1CC8D4640D6F}" type="sibTrans" cxnId="{1DDC5FC7-4A13-4697-85CA-1B29C9B8F075}">
      <dgm:prSet/>
      <dgm:spPr/>
      <dgm:t>
        <a:bodyPr/>
        <a:lstStyle/>
        <a:p>
          <a:endParaRPr lang="en-IN"/>
        </a:p>
      </dgm:t>
    </dgm:pt>
    <dgm:pt modelId="{A86B408A-0D22-4A39-A32A-6C17A25E10D4}" type="pres">
      <dgm:prSet presAssocID="{E54516CC-4017-46A5-B1EC-51EB3F581ACE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E6422CEE-CA1F-4E17-8671-F2B0BCA993C2}" type="pres">
      <dgm:prSet presAssocID="{8F04E266-FD18-410E-A579-AF7C1A1182A3}" presName="horFlow" presStyleCnt="0"/>
      <dgm:spPr/>
    </dgm:pt>
    <dgm:pt modelId="{B7ACF179-47C2-49F8-881D-AFCE62620689}" type="pres">
      <dgm:prSet presAssocID="{8F04E266-FD18-410E-A579-AF7C1A1182A3}" presName="bigChev" presStyleLbl="node1" presStyleIdx="0" presStyleCnt="1" custLinFactY="-72393" custLinFactNeighborX="-5157" custLinFactNeighborY="-100000"/>
      <dgm:spPr/>
    </dgm:pt>
    <dgm:pt modelId="{49C4EA99-1256-41A2-8CEE-4485D3DADC98}" type="pres">
      <dgm:prSet presAssocID="{425972EE-EE92-44D9-888F-4A237DB69F6E}" presName="parTrans" presStyleCnt="0"/>
      <dgm:spPr/>
    </dgm:pt>
    <dgm:pt modelId="{34E6E9A7-2B27-49F6-AA3E-85DD9704B3A4}" type="pres">
      <dgm:prSet presAssocID="{01241677-917A-4E24-8F29-ED815E6AD05D}" presName="node" presStyleLbl="alignAccFollowNode1" presStyleIdx="0" presStyleCnt="5" custLinFactY="-100000" custLinFactNeighborX="5155" custLinFactNeighborY="-113183">
        <dgm:presLayoutVars>
          <dgm:bulletEnabled val="1"/>
        </dgm:presLayoutVars>
      </dgm:prSet>
      <dgm:spPr/>
    </dgm:pt>
    <dgm:pt modelId="{5A1F892F-105A-4867-83D3-FC0F961C9618}" type="pres">
      <dgm:prSet presAssocID="{4393BEEA-E1C5-4A25-A2E6-7E179AC99007}" presName="sibTrans" presStyleCnt="0"/>
      <dgm:spPr/>
    </dgm:pt>
    <dgm:pt modelId="{3397D2C7-471E-4071-ACE1-10197887B9BD}" type="pres">
      <dgm:prSet presAssocID="{3070D2E3-F5DF-4EED-A010-834A143FF1E4}" presName="node" presStyleLbl="alignAccFollowNode1" presStyleIdx="1" presStyleCnt="5" custLinFactY="-100000" custLinFactNeighborY="-113183">
        <dgm:presLayoutVars>
          <dgm:bulletEnabled val="1"/>
        </dgm:presLayoutVars>
      </dgm:prSet>
      <dgm:spPr/>
    </dgm:pt>
    <dgm:pt modelId="{5F6686EA-2804-4705-9D02-6F5B7E32BCBF}" type="pres">
      <dgm:prSet presAssocID="{432BE5E1-E94D-4A65-8666-7D7C87BF6FE2}" presName="sibTrans" presStyleCnt="0"/>
      <dgm:spPr/>
    </dgm:pt>
    <dgm:pt modelId="{F4E79042-B155-4558-A9D5-4EFD15C8106A}" type="pres">
      <dgm:prSet presAssocID="{D3BD07E1-D8AB-485F-A7C4-BD1B7954A859}" presName="node" presStyleLbl="alignAccFollowNode1" presStyleIdx="2" presStyleCnt="5" custLinFactY="-100000" custLinFactNeighborX="5036" custLinFactNeighborY="-113183">
        <dgm:presLayoutVars>
          <dgm:bulletEnabled val="1"/>
        </dgm:presLayoutVars>
      </dgm:prSet>
      <dgm:spPr/>
    </dgm:pt>
    <dgm:pt modelId="{3E276FFD-00C1-4DF2-95D1-381D059962E3}" type="pres">
      <dgm:prSet presAssocID="{846A7934-0846-4765-A873-DC73ED03DE19}" presName="sibTrans" presStyleCnt="0"/>
      <dgm:spPr/>
    </dgm:pt>
    <dgm:pt modelId="{E15590D6-D5DF-4631-BFAB-9ECEE5401D56}" type="pres">
      <dgm:prSet presAssocID="{2B71C819-3323-4069-B626-42942D746D19}" presName="node" presStyleLbl="alignAccFollowNode1" presStyleIdx="3" presStyleCnt="5" custLinFactY="-100000" custLinFactNeighborX="5155" custLinFactNeighborY="-113183">
        <dgm:presLayoutVars>
          <dgm:bulletEnabled val="1"/>
        </dgm:presLayoutVars>
      </dgm:prSet>
      <dgm:spPr/>
    </dgm:pt>
    <dgm:pt modelId="{656D5C94-06FB-46F0-A95C-502FCA0F65E3}" type="pres">
      <dgm:prSet presAssocID="{E032A1C1-EE0B-4BD0-B654-89DF9980D263}" presName="sibTrans" presStyleCnt="0"/>
      <dgm:spPr/>
    </dgm:pt>
    <dgm:pt modelId="{90AF4D1F-3EC6-4342-A6AB-401FE12B8B91}" type="pres">
      <dgm:prSet presAssocID="{2C91EE73-23FF-40D7-B7A0-30966D08A446}" presName="node" presStyleLbl="alignAccFollowNode1" presStyleIdx="4" presStyleCnt="5" custLinFactY="-100000" custLinFactNeighborX="419" custLinFactNeighborY="-113183">
        <dgm:presLayoutVars>
          <dgm:bulletEnabled val="1"/>
        </dgm:presLayoutVars>
      </dgm:prSet>
      <dgm:spPr/>
    </dgm:pt>
  </dgm:ptLst>
  <dgm:cxnLst>
    <dgm:cxn modelId="{72E63002-211C-4954-86D5-64EB25327560}" type="presOf" srcId="{D3BD07E1-D8AB-485F-A7C4-BD1B7954A859}" destId="{F4E79042-B155-4558-A9D5-4EFD15C8106A}" srcOrd="0" destOrd="0" presId="urn:microsoft.com/office/officeart/2005/8/layout/lProcess3"/>
    <dgm:cxn modelId="{3F769D11-B1A6-4B0D-B7BA-7B7D877DB714}" srcId="{E54516CC-4017-46A5-B1EC-51EB3F581ACE}" destId="{8F04E266-FD18-410E-A579-AF7C1A1182A3}" srcOrd="0" destOrd="0" parTransId="{21316BA7-6324-4022-8569-1E69BA89782B}" sibTransId="{4903DAFB-6A3A-4681-89F6-201314FBA90C}"/>
    <dgm:cxn modelId="{061D9734-D2C1-4EC7-B566-44F27F2143A2}" type="presOf" srcId="{2B71C819-3323-4069-B626-42942D746D19}" destId="{E15590D6-D5DF-4631-BFAB-9ECEE5401D56}" srcOrd="0" destOrd="0" presId="urn:microsoft.com/office/officeart/2005/8/layout/lProcess3"/>
    <dgm:cxn modelId="{F1698748-ACDE-492C-812F-2001A5EF4708}" srcId="{8F04E266-FD18-410E-A579-AF7C1A1182A3}" destId="{3070D2E3-F5DF-4EED-A010-834A143FF1E4}" srcOrd="1" destOrd="0" parTransId="{6143A9AA-E6AA-4808-9438-604CE3693D8C}" sibTransId="{432BE5E1-E94D-4A65-8666-7D7C87BF6FE2}"/>
    <dgm:cxn modelId="{2AA87C4A-016B-41AC-AF1D-779B6DB66029}" srcId="{8F04E266-FD18-410E-A579-AF7C1A1182A3}" destId="{D3BD07E1-D8AB-485F-A7C4-BD1B7954A859}" srcOrd="2" destOrd="0" parTransId="{6737EBB6-5170-4F3B-84A5-6FC73A11FBE4}" sibTransId="{846A7934-0846-4765-A873-DC73ED03DE19}"/>
    <dgm:cxn modelId="{935C7055-8E54-4526-89E4-98610D3B9A0A}" type="presOf" srcId="{E54516CC-4017-46A5-B1EC-51EB3F581ACE}" destId="{A86B408A-0D22-4A39-A32A-6C17A25E10D4}" srcOrd="0" destOrd="0" presId="urn:microsoft.com/office/officeart/2005/8/layout/lProcess3"/>
    <dgm:cxn modelId="{63889D7F-569A-4F84-BC39-5E653E295152}" type="presOf" srcId="{2C91EE73-23FF-40D7-B7A0-30966D08A446}" destId="{90AF4D1F-3EC6-4342-A6AB-401FE12B8B91}" srcOrd="0" destOrd="0" presId="urn:microsoft.com/office/officeart/2005/8/layout/lProcess3"/>
    <dgm:cxn modelId="{BD92EFA4-E509-4BD7-B487-2284EB981A17}" type="presOf" srcId="{3070D2E3-F5DF-4EED-A010-834A143FF1E4}" destId="{3397D2C7-471E-4071-ACE1-10197887B9BD}" srcOrd="0" destOrd="0" presId="urn:microsoft.com/office/officeart/2005/8/layout/lProcess3"/>
    <dgm:cxn modelId="{35FCC6BE-454C-4272-B223-E71EE03378DE}" srcId="{8F04E266-FD18-410E-A579-AF7C1A1182A3}" destId="{2B71C819-3323-4069-B626-42942D746D19}" srcOrd="3" destOrd="0" parTransId="{EC537CBC-3DD8-4901-A4FC-42435DB8475A}" sibTransId="{E032A1C1-EE0B-4BD0-B654-89DF9980D263}"/>
    <dgm:cxn modelId="{A65C38C1-4B29-4865-8554-B565C61CBAD3}" srcId="{8F04E266-FD18-410E-A579-AF7C1A1182A3}" destId="{01241677-917A-4E24-8F29-ED815E6AD05D}" srcOrd="0" destOrd="0" parTransId="{425972EE-EE92-44D9-888F-4A237DB69F6E}" sibTransId="{4393BEEA-E1C5-4A25-A2E6-7E179AC99007}"/>
    <dgm:cxn modelId="{1DDC5FC7-4A13-4697-85CA-1B29C9B8F075}" srcId="{8F04E266-FD18-410E-A579-AF7C1A1182A3}" destId="{2C91EE73-23FF-40D7-B7A0-30966D08A446}" srcOrd="4" destOrd="0" parTransId="{F55BB39E-E4B1-44CE-B63C-AE868E1421D5}" sibTransId="{5E7990F6-D991-4D8B-AC6E-1CC8D4640D6F}"/>
    <dgm:cxn modelId="{E91F21D0-882D-42C2-981E-5886D3C395FF}" type="presOf" srcId="{8F04E266-FD18-410E-A579-AF7C1A1182A3}" destId="{B7ACF179-47C2-49F8-881D-AFCE62620689}" srcOrd="0" destOrd="0" presId="urn:microsoft.com/office/officeart/2005/8/layout/lProcess3"/>
    <dgm:cxn modelId="{F0C048D6-DC91-40D1-ADCB-4DBE0B50D20F}" type="presOf" srcId="{01241677-917A-4E24-8F29-ED815E6AD05D}" destId="{34E6E9A7-2B27-49F6-AA3E-85DD9704B3A4}" srcOrd="0" destOrd="0" presId="urn:microsoft.com/office/officeart/2005/8/layout/lProcess3"/>
    <dgm:cxn modelId="{2363E226-D648-4B11-BC20-44E705C353F7}" type="presParOf" srcId="{A86B408A-0D22-4A39-A32A-6C17A25E10D4}" destId="{E6422CEE-CA1F-4E17-8671-F2B0BCA993C2}" srcOrd="0" destOrd="0" presId="urn:microsoft.com/office/officeart/2005/8/layout/lProcess3"/>
    <dgm:cxn modelId="{95296B92-3639-4DB0-B5D8-B6A545E8CF21}" type="presParOf" srcId="{E6422CEE-CA1F-4E17-8671-F2B0BCA993C2}" destId="{B7ACF179-47C2-49F8-881D-AFCE62620689}" srcOrd="0" destOrd="0" presId="urn:microsoft.com/office/officeart/2005/8/layout/lProcess3"/>
    <dgm:cxn modelId="{5FC8359F-8AD6-49DE-B8D7-4C260FF91C7B}" type="presParOf" srcId="{E6422CEE-CA1F-4E17-8671-F2B0BCA993C2}" destId="{49C4EA99-1256-41A2-8CEE-4485D3DADC98}" srcOrd="1" destOrd="0" presId="urn:microsoft.com/office/officeart/2005/8/layout/lProcess3"/>
    <dgm:cxn modelId="{9C0BABAF-0FBC-4413-B457-E9B5CC8A5870}" type="presParOf" srcId="{E6422CEE-CA1F-4E17-8671-F2B0BCA993C2}" destId="{34E6E9A7-2B27-49F6-AA3E-85DD9704B3A4}" srcOrd="2" destOrd="0" presId="urn:microsoft.com/office/officeart/2005/8/layout/lProcess3"/>
    <dgm:cxn modelId="{BFB5B5B4-4093-4438-818C-334CA5A9EE21}" type="presParOf" srcId="{E6422CEE-CA1F-4E17-8671-F2B0BCA993C2}" destId="{5A1F892F-105A-4867-83D3-FC0F961C9618}" srcOrd="3" destOrd="0" presId="urn:microsoft.com/office/officeart/2005/8/layout/lProcess3"/>
    <dgm:cxn modelId="{895585CB-CB80-48D7-B69D-323C3CC6BFCB}" type="presParOf" srcId="{E6422CEE-CA1F-4E17-8671-F2B0BCA993C2}" destId="{3397D2C7-471E-4071-ACE1-10197887B9BD}" srcOrd="4" destOrd="0" presId="urn:microsoft.com/office/officeart/2005/8/layout/lProcess3"/>
    <dgm:cxn modelId="{8DC0EB28-62EC-4573-9CC9-72E4B25B0F9A}" type="presParOf" srcId="{E6422CEE-CA1F-4E17-8671-F2B0BCA993C2}" destId="{5F6686EA-2804-4705-9D02-6F5B7E32BCBF}" srcOrd="5" destOrd="0" presId="urn:microsoft.com/office/officeart/2005/8/layout/lProcess3"/>
    <dgm:cxn modelId="{9D5F3557-D6B6-4C01-B89C-006ACD9CFC85}" type="presParOf" srcId="{E6422CEE-CA1F-4E17-8671-F2B0BCA993C2}" destId="{F4E79042-B155-4558-A9D5-4EFD15C8106A}" srcOrd="6" destOrd="0" presId="urn:microsoft.com/office/officeart/2005/8/layout/lProcess3"/>
    <dgm:cxn modelId="{A57E9BE9-BB0D-4BC3-B0D1-90DE2AE06307}" type="presParOf" srcId="{E6422CEE-CA1F-4E17-8671-F2B0BCA993C2}" destId="{3E276FFD-00C1-4DF2-95D1-381D059962E3}" srcOrd="7" destOrd="0" presId="urn:microsoft.com/office/officeart/2005/8/layout/lProcess3"/>
    <dgm:cxn modelId="{FC021F96-81E0-41CE-BEE6-2D6479E0EA4A}" type="presParOf" srcId="{E6422CEE-CA1F-4E17-8671-F2B0BCA993C2}" destId="{E15590D6-D5DF-4631-BFAB-9ECEE5401D56}" srcOrd="8" destOrd="0" presId="urn:microsoft.com/office/officeart/2005/8/layout/lProcess3"/>
    <dgm:cxn modelId="{F4F30FC0-6AB4-4B07-A973-E8067E83C2BD}" type="presParOf" srcId="{E6422CEE-CA1F-4E17-8671-F2B0BCA993C2}" destId="{656D5C94-06FB-46F0-A95C-502FCA0F65E3}" srcOrd="9" destOrd="0" presId="urn:microsoft.com/office/officeart/2005/8/layout/lProcess3"/>
    <dgm:cxn modelId="{A5C03703-72E8-4B5F-A889-E199FD2E6962}" type="presParOf" srcId="{E6422CEE-CA1F-4E17-8671-F2B0BCA993C2}" destId="{90AF4D1F-3EC6-4342-A6AB-401FE12B8B91}" srcOrd="1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9E3EE52-C43A-425D-BE80-54874736E2DE}" type="doc">
      <dgm:prSet loTypeId="urn:microsoft.com/office/officeart/2005/8/layout/lProcess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899487F5-1BCE-4AF5-A625-CD65A28DD0C2}">
      <dgm:prSet/>
      <dgm:spPr/>
      <dgm:t>
        <a:bodyPr/>
        <a:lstStyle/>
        <a:p>
          <a:r>
            <a:rPr lang="en-IN" b="1" dirty="0"/>
            <a:t> Research Development</a:t>
          </a:r>
          <a:endParaRPr lang="en-IN" dirty="0"/>
        </a:p>
      </dgm:t>
    </dgm:pt>
    <dgm:pt modelId="{2BBB25B1-31B6-4A50-8D92-D23AC4CC119F}" type="parTrans" cxnId="{4404D726-BBD5-4E07-B881-E2CEFC32ED03}">
      <dgm:prSet/>
      <dgm:spPr/>
      <dgm:t>
        <a:bodyPr/>
        <a:lstStyle/>
        <a:p>
          <a:endParaRPr lang="en-IN"/>
        </a:p>
      </dgm:t>
    </dgm:pt>
    <dgm:pt modelId="{470DEBC8-2B07-4D0A-A6B0-8C31EA3DA6D2}" type="sibTrans" cxnId="{4404D726-BBD5-4E07-B881-E2CEFC32ED03}">
      <dgm:prSet/>
      <dgm:spPr/>
      <dgm:t>
        <a:bodyPr/>
        <a:lstStyle/>
        <a:p>
          <a:endParaRPr lang="en-IN"/>
        </a:p>
      </dgm:t>
    </dgm:pt>
    <dgm:pt modelId="{53C07DEC-0178-4C9F-9D1D-2598D2284E33}">
      <dgm:prSet/>
      <dgm:spPr/>
      <dgm:t>
        <a:bodyPr/>
        <a:lstStyle/>
        <a:p>
          <a:r>
            <a:rPr lang="en-IN" dirty="0"/>
            <a:t>RISC-V introduced in 2010</a:t>
          </a:r>
        </a:p>
      </dgm:t>
    </dgm:pt>
    <dgm:pt modelId="{C5695313-CF47-4087-8F2F-727B6427AB39}" type="parTrans" cxnId="{3E25C9E6-51BE-46C2-8025-F864609103F3}">
      <dgm:prSet/>
      <dgm:spPr/>
      <dgm:t>
        <a:bodyPr/>
        <a:lstStyle/>
        <a:p>
          <a:endParaRPr lang="en-IN"/>
        </a:p>
      </dgm:t>
    </dgm:pt>
    <dgm:pt modelId="{EF8F155B-9432-4173-A6D4-2C168D7734D4}" type="sibTrans" cxnId="{3E25C9E6-51BE-46C2-8025-F864609103F3}">
      <dgm:prSet/>
      <dgm:spPr/>
      <dgm:t>
        <a:bodyPr/>
        <a:lstStyle/>
        <a:p>
          <a:endParaRPr lang="en-IN"/>
        </a:p>
      </dgm:t>
    </dgm:pt>
    <dgm:pt modelId="{CC51D7B5-91C4-4965-8C3E-A881BF27B142}">
      <dgm:prSet/>
      <dgm:spPr/>
      <dgm:t>
        <a:bodyPr/>
        <a:lstStyle/>
        <a:p>
          <a:r>
            <a:rPr lang="en-IN" dirty="0"/>
            <a:t>Open source ISA model</a:t>
          </a:r>
        </a:p>
      </dgm:t>
    </dgm:pt>
    <dgm:pt modelId="{7FF382CC-34E2-463F-B63B-213C09CCF78F}" type="parTrans" cxnId="{BAD40192-811F-4DF7-9D12-4BD546E8AA62}">
      <dgm:prSet/>
      <dgm:spPr/>
      <dgm:t>
        <a:bodyPr/>
        <a:lstStyle/>
        <a:p>
          <a:endParaRPr lang="en-IN"/>
        </a:p>
      </dgm:t>
    </dgm:pt>
    <dgm:pt modelId="{B1A8419A-9875-4C75-ABB5-68BEC03D8081}" type="sibTrans" cxnId="{BAD40192-811F-4DF7-9D12-4BD546E8AA62}">
      <dgm:prSet/>
      <dgm:spPr/>
      <dgm:t>
        <a:bodyPr/>
        <a:lstStyle/>
        <a:p>
          <a:endParaRPr lang="en-IN"/>
        </a:p>
      </dgm:t>
    </dgm:pt>
    <dgm:pt modelId="{234131A9-D5FE-4B70-A7BD-F3DD377F90E3}">
      <dgm:prSet/>
      <dgm:spPr/>
      <dgm:t>
        <a:bodyPr/>
        <a:lstStyle/>
        <a:p>
          <a:r>
            <a:rPr lang="en-IN" dirty="0"/>
            <a:t>Rapid academic adoption</a:t>
          </a:r>
        </a:p>
      </dgm:t>
    </dgm:pt>
    <dgm:pt modelId="{8A13F9CF-6B56-4D35-8959-84B1BBBC36AB}" type="parTrans" cxnId="{D5E2AEBB-E417-4B0A-955B-369C8FF5D730}">
      <dgm:prSet/>
      <dgm:spPr/>
      <dgm:t>
        <a:bodyPr/>
        <a:lstStyle/>
        <a:p>
          <a:endParaRPr lang="en-IN"/>
        </a:p>
      </dgm:t>
    </dgm:pt>
    <dgm:pt modelId="{CD7DEDC3-8717-4595-A9F9-F18BBA9A059A}" type="sibTrans" cxnId="{D5E2AEBB-E417-4B0A-955B-369C8FF5D730}">
      <dgm:prSet/>
      <dgm:spPr/>
      <dgm:t>
        <a:bodyPr/>
        <a:lstStyle/>
        <a:p>
          <a:endParaRPr lang="en-IN"/>
        </a:p>
      </dgm:t>
    </dgm:pt>
    <dgm:pt modelId="{F9014B9B-B024-4B71-AEAA-381687A10051}">
      <dgm:prSet/>
      <dgm:spPr/>
      <dgm:t>
        <a:bodyPr/>
        <a:lstStyle/>
        <a:p>
          <a:r>
            <a:rPr lang="en-IN" dirty="0"/>
            <a:t>Industry collaboration growth</a:t>
          </a:r>
        </a:p>
      </dgm:t>
    </dgm:pt>
    <dgm:pt modelId="{DA44AEFB-CA1F-4F69-B002-6A5A1B26BF39}" type="parTrans" cxnId="{55A67FD1-F091-4F1F-A5CA-AC764F36E40C}">
      <dgm:prSet/>
      <dgm:spPr/>
      <dgm:t>
        <a:bodyPr/>
        <a:lstStyle/>
        <a:p>
          <a:endParaRPr lang="en-IN"/>
        </a:p>
      </dgm:t>
    </dgm:pt>
    <dgm:pt modelId="{3FA2AA87-613D-47BF-8CB7-8EEC845937E3}" type="sibTrans" cxnId="{55A67FD1-F091-4F1F-A5CA-AC764F36E40C}">
      <dgm:prSet/>
      <dgm:spPr/>
      <dgm:t>
        <a:bodyPr/>
        <a:lstStyle/>
        <a:p>
          <a:endParaRPr lang="en-IN"/>
        </a:p>
      </dgm:t>
    </dgm:pt>
    <dgm:pt modelId="{DCA2B320-0400-4A18-9CCF-5409F6E13D64}">
      <dgm:prSet/>
      <dgm:spPr/>
      <dgm:t>
        <a:bodyPr/>
        <a:lstStyle/>
        <a:p>
          <a:r>
            <a:rPr lang="en-IN" dirty="0"/>
            <a:t>Expansion through extensions</a:t>
          </a:r>
        </a:p>
      </dgm:t>
    </dgm:pt>
    <dgm:pt modelId="{2B49CBEB-A46A-4EA4-BDC1-E177711E7FBD}" type="parTrans" cxnId="{8CB965D5-C64C-4BBF-90E0-81899589B6F5}">
      <dgm:prSet/>
      <dgm:spPr/>
      <dgm:t>
        <a:bodyPr/>
        <a:lstStyle/>
        <a:p>
          <a:endParaRPr lang="en-IN"/>
        </a:p>
      </dgm:t>
    </dgm:pt>
    <dgm:pt modelId="{ED50E738-2B26-4F7A-AB53-4A06C4BC3070}" type="sibTrans" cxnId="{8CB965D5-C64C-4BBF-90E0-81899589B6F5}">
      <dgm:prSet/>
      <dgm:spPr/>
      <dgm:t>
        <a:bodyPr/>
        <a:lstStyle/>
        <a:p>
          <a:endParaRPr lang="en-IN"/>
        </a:p>
      </dgm:t>
    </dgm:pt>
    <dgm:pt modelId="{137A10D3-EBA1-4017-8B45-818402997249}" type="pres">
      <dgm:prSet presAssocID="{89E3EE52-C43A-425D-BE80-54874736E2DE}" presName="Name0" presStyleCnt="0">
        <dgm:presLayoutVars>
          <dgm:chPref val="3"/>
          <dgm:dir/>
          <dgm:animLvl val="lvl"/>
          <dgm:resizeHandles/>
        </dgm:presLayoutVars>
      </dgm:prSet>
      <dgm:spPr/>
    </dgm:pt>
    <dgm:pt modelId="{751A8F81-7B7E-473F-979F-FB14A2447EA9}" type="pres">
      <dgm:prSet presAssocID="{899487F5-1BCE-4AF5-A625-CD65A28DD0C2}" presName="horFlow" presStyleCnt="0"/>
      <dgm:spPr/>
    </dgm:pt>
    <dgm:pt modelId="{BC848BBA-41BA-4E18-A33B-21EB7A22B93E}" type="pres">
      <dgm:prSet presAssocID="{899487F5-1BCE-4AF5-A625-CD65A28DD0C2}" presName="bigChev" presStyleLbl="node1" presStyleIdx="0" presStyleCnt="1" custScaleY="111199" custLinFactY="-92345" custLinFactNeighborX="18120" custLinFactNeighborY="-100000"/>
      <dgm:spPr/>
    </dgm:pt>
    <dgm:pt modelId="{5F9A9823-717A-4DB5-9EA0-5794BDF1F2F2}" type="pres">
      <dgm:prSet presAssocID="{C5695313-CF47-4087-8F2F-727B6427AB39}" presName="parTrans" presStyleCnt="0"/>
      <dgm:spPr/>
    </dgm:pt>
    <dgm:pt modelId="{8B3E3DAA-3BD6-4247-B120-D3BF18A61DF6}" type="pres">
      <dgm:prSet presAssocID="{53C07DEC-0178-4C9F-9D1D-2598D2284E33}" presName="node" presStyleLbl="alignAccFollowNode1" presStyleIdx="0" presStyleCnt="5" custLinFactY="-100000" custLinFactNeighborX="36210" custLinFactNeighborY="-131741">
        <dgm:presLayoutVars>
          <dgm:bulletEnabled val="1"/>
        </dgm:presLayoutVars>
      </dgm:prSet>
      <dgm:spPr/>
    </dgm:pt>
    <dgm:pt modelId="{4142B14F-4AE0-499C-AC74-0FCAF318F788}" type="pres">
      <dgm:prSet presAssocID="{EF8F155B-9432-4173-A6D4-2C168D7734D4}" presName="sibTrans" presStyleCnt="0"/>
      <dgm:spPr/>
    </dgm:pt>
    <dgm:pt modelId="{88ABFF1E-EE22-4E53-B653-55F095A94C16}" type="pres">
      <dgm:prSet presAssocID="{CC51D7B5-91C4-4965-8C3E-A881BF27B142}" presName="node" presStyleLbl="alignAccFollowNode1" presStyleIdx="1" presStyleCnt="5" custLinFactY="-100000" custLinFactNeighborX="25864" custLinFactNeighborY="-131741">
        <dgm:presLayoutVars>
          <dgm:bulletEnabled val="1"/>
        </dgm:presLayoutVars>
      </dgm:prSet>
      <dgm:spPr/>
    </dgm:pt>
    <dgm:pt modelId="{46F22F40-E20A-4D93-8137-1BA5164F4A2E}" type="pres">
      <dgm:prSet presAssocID="{B1A8419A-9875-4C75-ABB5-68BEC03D8081}" presName="sibTrans" presStyleCnt="0"/>
      <dgm:spPr/>
    </dgm:pt>
    <dgm:pt modelId="{976668C5-CED1-4DB9-B5FA-2D0EC4117344}" type="pres">
      <dgm:prSet presAssocID="{234131A9-D5FE-4B70-A7BD-F3DD377F90E3}" presName="node" presStyleLbl="alignAccFollowNode1" presStyleIdx="2" presStyleCnt="5" custLinFactY="-100000" custLinFactNeighborX="21487" custLinFactNeighborY="-131741">
        <dgm:presLayoutVars>
          <dgm:bulletEnabled val="1"/>
        </dgm:presLayoutVars>
      </dgm:prSet>
      <dgm:spPr/>
    </dgm:pt>
    <dgm:pt modelId="{278B818E-A85B-430B-84BB-3E3F52C8623A}" type="pres">
      <dgm:prSet presAssocID="{CD7DEDC3-8717-4595-A9F9-F18BBA9A059A}" presName="sibTrans" presStyleCnt="0"/>
      <dgm:spPr/>
    </dgm:pt>
    <dgm:pt modelId="{79D09518-8981-4C41-BF13-82AB75D66CE6}" type="pres">
      <dgm:prSet presAssocID="{F9014B9B-B024-4B71-AEAA-381687A10051}" presName="node" presStyleLbl="alignAccFollowNode1" presStyleIdx="3" presStyleCnt="5" custLinFactY="-100000" custLinFactNeighborX="10742" custLinFactNeighborY="-130348">
        <dgm:presLayoutVars>
          <dgm:bulletEnabled val="1"/>
        </dgm:presLayoutVars>
      </dgm:prSet>
      <dgm:spPr/>
    </dgm:pt>
    <dgm:pt modelId="{CB944BE3-1474-4F12-B758-DC986556A4F0}" type="pres">
      <dgm:prSet presAssocID="{3FA2AA87-613D-47BF-8CB7-8EEC845937E3}" presName="sibTrans" presStyleCnt="0"/>
      <dgm:spPr/>
    </dgm:pt>
    <dgm:pt modelId="{18396C34-214A-4568-895F-B9265072BB90}" type="pres">
      <dgm:prSet presAssocID="{DCA2B320-0400-4A18-9CCF-5409F6E13D64}" presName="node" presStyleLbl="alignAccFollowNode1" presStyleIdx="4" presStyleCnt="5" custLinFactY="-100000" custLinFactNeighborX="64084" custLinFactNeighborY="-133134">
        <dgm:presLayoutVars>
          <dgm:bulletEnabled val="1"/>
        </dgm:presLayoutVars>
      </dgm:prSet>
      <dgm:spPr/>
    </dgm:pt>
  </dgm:ptLst>
  <dgm:cxnLst>
    <dgm:cxn modelId="{4404D726-BBD5-4E07-B881-E2CEFC32ED03}" srcId="{89E3EE52-C43A-425D-BE80-54874736E2DE}" destId="{899487F5-1BCE-4AF5-A625-CD65A28DD0C2}" srcOrd="0" destOrd="0" parTransId="{2BBB25B1-31B6-4A50-8D92-D23AC4CC119F}" sibTransId="{470DEBC8-2B07-4D0A-A6B0-8C31EA3DA6D2}"/>
    <dgm:cxn modelId="{A03E9D48-FBE0-4544-8F21-F13B8D9BABD9}" type="presOf" srcId="{89E3EE52-C43A-425D-BE80-54874736E2DE}" destId="{137A10D3-EBA1-4017-8B45-818402997249}" srcOrd="0" destOrd="0" presId="urn:microsoft.com/office/officeart/2005/8/layout/lProcess3"/>
    <dgm:cxn modelId="{BE9B7859-9235-4CE1-BD07-87A8CB2D81A8}" type="presOf" srcId="{899487F5-1BCE-4AF5-A625-CD65A28DD0C2}" destId="{BC848BBA-41BA-4E18-A33B-21EB7A22B93E}" srcOrd="0" destOrd="0" presId="urn:microsoft.com/office/officeart/2005/8/layout/lProcess3"/>
    <dgm:cxn modelId="{BAD40192-811F-4DF7-9D12-4BD546E8AA62}" srcId="{899487F5-1BCE-4AF5-A625-CD65A28DD0C2}" destId="{CC51D7B5-91C4-4965-8C3E-A881BF27B142}" srcOrd="1" destOrd="0" parTransId="{7FF382CC-34E2-463F-B63B-213C09CCF78F}" sibTransId="{B1A8419A-9875-4C75-ABB5-68BEC03D8081}"/>
    <dgm:cxn modelId="{49D1EAA9-FF78-4C76-AE70-7C01A4F28B30}" type="presOf" srcId="{CC51D7B5-91C4-4965-8C3E-A881BF27B142}" destId="{88ABFF1E-EE22-4E53-B653-55F095A94C16}" srcOrd="0" destOrd="0" presId="urn:microsoft.com/office/officeart/2005/8/layout/lProcess3"/>
    <dgm:cxn modelId="{A0ECC7B3-C87E-4B8B-9D10-E88C47211E7C}" type="presOf" srcId="{53C07DEC-0178-4C9F-9D1D-2598D2284E33}" destId="{8B3E3DAA-3BD6-4247-B120-D3BF18A61DF6}" srcOrd="0" destOrd="0" presId="urn:microsoft.com/office/officeart/2005/8/layout/lProcess3"/>
    <dgm:cxn modelId="{5849AEBA-0A9E-41C0-A900-9EEF53B63345}" type="presOf" srcId="{DCA2B320-0400-4A18-9CCF-5409F6E13D64}" destId="{18396C34-214A-4568-895F-B9265072BB90}" srcOrd="0" destOrd="0" presId="urn:microsoft.com/office/officeart/2005/8/layout/lProcess3"/>
    <dgm:cxn modelId="{D5E2AEBB-E417-4B0A-955B-369C8FF5D730}" srcId="{899487F5-1BCE-4AF5-A625-CD65A28DD0C2}" destId="{234131A9-D5FE-4B70-A7BD-F3DD377F90E3}" srcOrd="2" destOrd="0" parTransId="{8A13F9CF-6B56-4D35-8959-84B1BBBC36AB}" sibTransId="{CD7DEDC3-8717-4595-A9F9-F18BBA9A059A}"/>
    <dgm:cxn modelId="{55A67FD1-F091-4F1F-A5CA-AC764F36E40C}" srcId="{899487F5-1BCE-4AF5-A625-CD65A28DD0C2}" destId="{F9014B9B-B024-4B71-AEAA-381687A10051}" srcOrd="3" destOrd="0" parTransId="{DA44AEFB-CA1F-4F69-B002-6A5A1B26BF39}" sibTransId="{3FA2AA87-613D-47BF-8CB7-8EEC845937E3}"/>
    <dgm:cxn modelId="{8CB965D5-C64C-4BBF-90E0-81899589B6F5}" srcId="{899487F5-1BCE-4AF5-A625-CD65A28DD0C2}" destId="{DCA2B320-0400-4A18-9CCF-5409F6E13D64}" srcOrd="4" destOrd="0" parTransId="{2B49CBEB-A46A-4EA4-BDC1-E177711E7FBD}" sibTransId="{ED50E738-2B26-4F7A-AB53-4A06C4BC3070}"/>
    <dgm:cxn modelId="{6B597CDA-7245-4797-9A21-D15AB18B390A}" type="presOf" srcId="{234131A9-D5FE-4B70-A7BD-F3DD377F90E3}" destId="{976668C5-CED1-4DB9-B5FA-2D0EC4117344}" srcOrd="0" destOrd="0" presId="urn:microsoft.com/office/officeart/2005/8/layout/lProcess3"/>
    <dgm:cxn modelId="{1E089AE6-E838-4517-A6CD-26975C27D264}" type="presOf" srcId="{F9014B9B-B024-4B71-AEAA-381687A10051}" destId="{79D09518-8981-4C41-BF13-82AB75D66CE6}" srcOrd="0" destOrd="0" presId="urn:microsoft.com/office/officeart/2005/8/layout/lProcess3"/>
    <dgm:cxn modelId="{3E25C9E6-51BE-46C2-8025-F864609103F3}" srcId="{899487F5-1BCE-4AF5-A625-CD65A28DD0C2}" destId="{53C07DEC-0178-4C9F-9D1D-2598D2284E33}" srcOrd="0" destOrd="0" parTransId="{C5695313-CF47-4087-8F2F-727B6427AB39}" sibTransId="{EF8F155B-9432-4173-A6D4-2C168D7734D4}"/>
    <dgm:cxn modelId="{B9638305-1BE6-4795-B1CA-70B81CC8BAE4}" type="presParOf" srcId="{137A10D3-EBA1-4017-8B45-818402997249}" destId="{751A8F81-7B7E-473F-979F-FB14A2447EA9}" srcOrd="0" destOrd="0" presId="urn:microsoft.com/office/officeart/2005/8/layout/lProcess3"/>
    <dgm:cxn modelId="{D7FF7F75-5720-4629-94AE-375C5BBAC507}" type="presParOf" srcId="{751A8F81-7B7E-473F-979F-FB14A2447EA9}" destId="{BC848BBA-41BA-4E18-A33B-21EB7A22B93E}" srcOrd="0" destOrd="0" presId="urn:microsoft.com/office/officeart/2005/8/layout/lProcess3"/>
    <dgm:cxn modelId="{1B36E4F4-5ED1-45D9-8318-E195C0666A56}" type="presParOf" srcId="{751A8F81-7B7E-473F-979F-FB14A2447EA9}" destId="{5F9A9823-717A-4DB5-9EA0-5794BDF1F2F2}" srcOrd="1" destOrd="0" presId="urn:microsoft.com/office/officeart/2005/8/layout/lProcess3"/>
    <dgm:cxn modelId="{BEB65418-1029-4EB9-BF09-6CA84F7AB7F3}" type="presParOf" srcId="{751A8F81-7B7E-473F-979F-FB14A2447EA9}" destId="{8B3E3DAA-3BD6-4247-B120-D3BF18A61DF6}" srcOrd="2" destOrd="0" presId="urn:microsoft.com/office/officeart/2005/8/layout/lProcess3"/>
    <dgm:cxn modelId="{1696D846-7F7D-4BF9-8746-4EB00EEA7227}" type="presParOf" srcId="{751A8F81-7B7E-473F-979F-FB14A2447EA9}" destId="{4142B14F-4AE0-499C-AC74-0FCAF318F788}" srcOrd="3" destOrd="0" presId="urn:microsoft.com/office/officeart/2005/8/layout/lProcess3"/>
    <dgm:cxn modelId="{8149B878-60D5-4F41-898F-F3171EE863B5}" type="presParOf" srcId="{751A8F81-7B7E-473F-979F-FB14A2447EA9}" destId="{88ABFF1E-EE22-4E53-B653-55F095A94C16}" srcOrd="4" destOrd="0" presId="urn:microsoft.com/office/officeart/2005/8/layout/lProcess3"/>
    <dgm:cxn modelId="{24FD4EB5-6C82-46F2-AA67-6F720EA84314}" type="presParOf" srcId="{751A8F81-7B7E-473F-979F-FB14A2447EA9}" destId="{46F22F40-E20A-4D93-8137-1BA5164F4A2E}" srcOrd="5" destOrd="0" presId="urn:microsoft.com/office/officeart/2005/8/layout/lProcess3"/>
    <dgm:cxn modelId="{B25D750A-4267-4806-807B-7862AA7446A5}" type="presParOf" srcId="{751A8F81-7B7E-473F-979F-FB14A2447EA9}" destId="{976668C5-CED1-4DB9-B5FA-2D0EC4117344}" srcOrd="6" destOrd="0" presId="urn:microsoft.com/office/officeart/2005/8/layout/lProcess3"/>
    <dgm:cxn modelId="{810623ED-AAFE-4BFF-98CE-6601CFD19802}" type="presParOf" srcId="{751A8F81-7B7E-473F-979F-FB14A2447EA9}" destId="{278B818E-A85B-430B-84BB-3E3F52C8623A}" srcOrd="7" destOrd="0" presId="urn:microsoft.com/office/officeart/2005/8/layout/lProcess3"/>
    <dgm:cxn modelId="{9201929C-D15E-43AB-B2FC-19A6C9963A2D}" type="presParOf" srcId="{751A8F81-7B7E-473F-979F-FB14A2447EA9}" destId="{79D09518-8981-4C41-BF13-82AB75D66CE6}" srcOrd="8" destOrd="0" presId="urn:microsoft.com/office/officeart/2005/8/layout/lProcess3"/>
    <dgm:cxn modelId="{365C3D0D-05DC-4C58-B7AF-529E5B270475}" type="presParOf" srcId="{751A8F81-7B7E-473F-979F-FB14A2447EA9}" destId="{CB944BE3-1474-4F12-B758-DC986556A4F0}" srcOrd="9" destOrd="0" presId="urn:microsoft.com/office/officeart/2005/8/layout/lProcess3"/>
    <dgm:cxn modelId="{16BFBBC9-A708-4BBA-B904-0FB3DCD4D2CC}" type="presParOf" srcId="{751A8F81-7B7E-473F-979F-FB14A2447EA9}" destId="{18396C34-214A-4568-895F-B9265072BB90}" srcOrd="10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ACF179-47C2-49F8-881D-AFCE62620689}">
      <dsp:nvSpPr>
        <dsp:cNvPr id="0" name=""/>
        <dsp:cNvSpPr/>
      </dsp:nvSpPr>
      <dsp:spPr>
        <a:xfrm>
          <a:off x="0" y="441810"/>
          <a:ext cx="2544245" cy="101769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17780" rIns="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800" b="1" kern="1200" dirty="0"/>
            <a:t>History of RISC</a:t>
          </a:r>
          <a:endParaRPr lang="en-IN" sz="2800" kern="1200" dirty="0"/>
        </a:p>
      </dsp:txBody>
      <dsp:txXfrm>
        <a:off x="508849" y="441810"/>
        <a:ext cx="1526547" cy="1017698"/>
      </dsp:txXfrm>
    </dsp:sp>
    <dsp:sp modelId="{34E6E9A7-2B27-49F6-AA3E-85DD9704B3A4}">
      <dsp:nvSpPr>
        <dsp:cNvPr id="0" name=""/>
        <dsp:cNvSpPr/>
      </dsp:nvSpPr>
      <dsp:spPr>
        <a:xfrm>
          <a:off x="2229972" y="482020"/>
          <a:ext cx="2111724" cy="844689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1430" rIns="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RISC concept introduced in 1980s</a:t>
          </a:r>
          <a:endParaRPr lang="en-IN" sz="1800" kern="1200" dirty="0"/>
        </a:p>
      </dsp:txBody>
      <dsp:txXfrm>
        <a:off x="2652317" y="482020"/>
        <a:ext cx="1267035" cy="844689"/>
      </dsp:txXfrm>
    </dsp:sp>
    <dsp:sp modelId="{3397D2C7-471E-4071-ACE1-10197887B9BD}">
      <dsp:nvSpPr>
        <dsp:cNvPr id="0" name=""/>
        <dsp:cNvSpPr/>
      </dsp:nvSpPr>
      <dsp:spPr>
        <a:xfrm>
          <a:off x="4030815" y="482020"/>
          <a:ext cx="2111724" cy="844689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1430" rIns="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Focus on simple instructions</a:t>
          </a:r>
        </a:p>
      </dsp:txBody>
      <dsp:txXfrm>
        <a:off x="4453160" y="482020"/>
        <a:ext cx="1267035" cy="844689"/>
      </dsp:txXfrm>
    </dsp:sp>
    <dsp:sp modelId="{F4E79042-B155-4558-A9D5-4EFD15C8106A}">
      <dsp:nvSpPr>
        <dsp:cNvPr id="0" name=""/>
        <dsp:cNvSpPr/>
      </dsp:nvSpPr>
      <dsp:spPr>
        <a:xfrm>
          <a:off x="5861786" y="482020"/>
          <a:ext cx="2111724" cy="844689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1430" rIns="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Improved pipeline efficiency</a:t>
          </a:r>
        </a:p>
      </dsp:txBody>
      <dsp:txXfrm>
        <a:off x="6284131" y="482020"/>
        <a:ext cx="1267035" cy="844689"/>
      </dsp:txXfrm>
    </dsp:sp>
    <dsp:sp modelId="{E15590D6-D5DF-4631-BFAB-9ECEE5401D56}">
      <dsp:nvSpPr>
        <dsp:cNvPr id="0" name=""/>
        <dsp:cNvSpPr/>
      </dsp:nvSpPr>
      <dsp:spPr>
        <a:xfrm>
          <a:off x="7678220" y="482020"/>
          <a:ext cx="2111724" cy="844689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1430" rIns="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Reduced hardware complexity</a:t>
          </a:r>
        </a:p>
      </dsp:txBody>
      <dsp:txXfrm>
        <a:off x="8100565" y="482020"/>
        <a:ext cx="1267035" cy="844689"/>
      </dsp:txXfrm>
    </dsp:sp>
    <dsp:sp modelId="{90AF4D1F-3EC6-4342-A6AB-401FE12B8B91}">
      <dsp:nvSpPr>
        <dsp:cNvPr id="0" name=""/>
        <dsp:cNvSpPr/>
      </dsp:nvSpPr>
      <dsp:spPr>
        <a:xfrm>
          <a:off x="9480301" y="482020"/>
          <a:ext cx="2111724" cy="844689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1430" rIns="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Foundations for modern ISAs</a:t>
          </a:r>
        </a:p>
      </dsp:txBody>
      <dsp:txXfrm>
        <a:off x="9902646" y="482020"/>
        <a:ext cx="1267035" cy="84468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848BBA-41BA-4E18-A33B-21EB7A22B93E}">
      <dsp:nvSpPr>
        <dsp:cNvPr id="0" name=""/>
        <dsp:cNvSpPr/>
      </dsp:nvSpPr>
      <dsp:spPr>
        <a:xfrm>
          <a:off x="60959" y="624843"/>
          <a:ext cx="2535443" cy="112775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130" tIns="12065" rIns="0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 dirty="0"/>
            <a:t> Research Development</a:t>
          </a:r>
          <a:endParaRPr lang="en-IN" sz="1900" kern="1200" dirty="0"/>
        </a:p>
      </dsp:txBody>
      <dsp:txXfrm>
        <a:off x="624837" y="624843"/>
        <a:ext cx="1407688" cy="1127755"/>
      </dsp:txXfrm>
    </dsp:sp>
    <dsp:sp modelId="{8B3E3DAA-3BD6-4247-B120-D3BF18A61DF6}">
      <dsp:nvSpPr>
        <dsp:cNvPr id="0" name=""/>
        <dsp:cNvSpPr/>
      </dsp:nvSpPr>
      <dsp:spPr>
        <a:xfrm>
          <a:off x="2313751" y="767836"/>
          <a:ext cx="2104418" cy="841767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1430" rIns="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RISC-V introduced in 2010</a:t>
          </a:r>
        </a:p>
      </dsp:txBody>
      <dsp:txXfrm>
        <a:off x="2734635" y="767836"/>
        <a:ext cx="1262651" cy="841767"/>
      </dsp:txXfrm>
    </dsp:sp>
    <dsp:sp modelId="{88ABFF1E-EE22-4E53-B653-55F095A94C16}">
      <dsp:nvSpPr>
        <dsp:cNvPr id="0" name=""/>
        <dsp:cNvSpPr/>
      </dsp:nvSpPr>
      <dsp:spPr>
        <a:xfrm>
          <a:off x="4093069" y="767836"/>
          <a:ext cx="2104418" cy="841767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1430" rIns="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Open source ISA model</a:t>
          </a:r>
        </a:p>
      </dsp:txBody>
      <dsp:txXfrm>
        <a:off x="4513953" y="767836"/>
        <a:ext cx="1262651" cy="841767"/>
      </dsp:txXfrm>
    </dsp:sp>
    <dsp:sp modelId="{976668C5-CED1-4DB9-B5FA-2D0EC4117344}">
      <dsp:nvSpPr>
        <dsp:cNvPr id="0" name=""/>
        <dsp:cNvSpPr/>
      </dsp:nvSpPr>
      <dsp:spPr>
        <a:xfrm>
          <a:off x="5889973" y="767836"/>
          <a:ext cx="2104418" cy="841767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1430" rIns="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Rapid academic adoption</a:t>
          </a:r>
        </a:p>
      </dsp:txBody>
      <dsp:txXfrm>
        <a:off x="6310857" y="767836"/>
        <a:ext cx="1262651" cy="841767"/>
      </dsp:txXfrm>
    </dsp:sp>
    <dsp:sp modelId="{79D09518-8981-4C41-BF13-82AB75D66CE6}">
      <dsp:nvSpPr>
        <dsp:cNvPr id="0" name=""/>
        <dsp:cNvSpPr/>
      </dsp:nvSpPr>
      <dsp:spPr>
        <a:xfrm>
          <a:off x="7668116" y="779562"/>
          <a:ext cx="2104418" cy="841767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1430" rIns="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Industry collaboration growth</a:t>
          </a:r>
        </a:p>
      </dsp:txBody>
      <dsp:txXfrm>
        <a:off x="8089000" y="779562"/>
        <a:ext cx="1262651" cy="841767"/>
      </dsp:txXfrm>
    </dsp:sp>
    <dsp:sp modelId="{18396C34-214A-4568-895F-B9265072BB90}">
      <dsp:nvSpPr>
        <dsp:cNvPr id="0" name=""/>
        <dsp:cNvSpPr/>
      </dsp:nvSpPr>
      <dsp:spPr>
        <a:xfrm>
          <a:off x="9447501" y="756110"/>
          <a:ext cx="2104418" cy="841767"/>
        </a:xfrm>
        <a:prstGeom prst="chevron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11430" rIns="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Expansion through extensions</a:t>
          </a:r>
        </a:p>
      </dsp:txBody>
      <dsp:txXfrm>
        <a:off x="9868385" y="756110"/>
        <a:ext cx="1262651" cy="8417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BC03C0-E2B9-4162-931A-F16CB01F0932}" type="datetimeFigureOut">
              <a:rPr lang="en-IN" smtClean="0"/>
              <a:pPr/>
              <a:t>26-02-2026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6C82FF-91B5-4657-A806-1DA95BF10D1D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3009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CEAEAAF-8AF4-468F-B91C-F4E3498047C7}" type="slidenum">
              <a:rPr lang="en-US" smtClean="0">
                <a:latin typeface="Arial" pitchFamily="34" charset="0"/>
              </a:rPr>
              <a:pPr/>
              <a:t>1</a:t>
            </a:fld>
            <a:endParaRPr lang="en-US" dirty="0">
              <a:latin typeface="Arial" pitchFamily="34" charset="0"/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3407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90538" y="1027113"/>
            <a:ext cx="6578600" cy="3700462"/>
          </a:xfrm>
          <a:ln/>
        </p:spPr>
      </p:sp>
      <p:sp>
        <p:nvSpPr>
          <p:cNvPr id="32771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1169988" y="5086350"/>
            <a:ext cx="5226050" cy="4108450"/>
          </a:xfrm>
          <a:noFill/>
          <a:ln/>
        </p:spPr>
        <p:txBody>
          <a:bodyPr wrap="none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108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90538" y="1027113"/>
            <a:ext cx="6578600" cy="3700462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1919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61B4A-7778-45E6-A9CE-6CB3D8DC31B9}" type="datetimeFigureOut">
              <a:rPr lang="en-IN" smtClean="0"/>
              <a:pPr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A54B4-6092-4124-8208-BCF2AF99010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3947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61B4A-7778-45E6-A9CE-6CB3D8DC31B9}" type="datetimeFigureOut">
              <a:rPr lang="en-IN" smtClean="0"/>
              <a:pPr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A54B4-6092-4124-8208-BCF2AF99010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4441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61B4A-7778-45E6-A9CE-6CB3D8DC31B9}" type="datetimeFigureOut">
              <a:rPr lang="en-IN" smtClean="0"/>
              <a:pPr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A54B4-6092-4124-8208-BCF2AF99010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6991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61B4A-7778-45E6-A9CE-6CB3D8DC31B9}" type="datetimeFigureOut">
              <a:rPr lang="en-IN" smtClean="0"/>
              <a:pPr/>
              <a:t>26-02-2026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A54B4-6092-4124-8208-BCF2AF99010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26033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61B4A-7778-45E6-A9CE-6CB3D8DC31B9}" type="datetimeFigureOut">
              <a:rPr lang="en-IN" smtClean="0"/>
              <a:pPr/>
              <a:t>26-02-2026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A54B4-6092-4124-8208-BCF2AF99010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8950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61B4A-7778-45E6-A9CE-6CB3D8DC31B9}" type="datetimeFigureOut">
              <a:rPr lang="en-IN" smtClean="0"/>
              <a:pPr/>
              <a:t>26-02-2026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A54B4-6092-4124-8208-BCF2AF99010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24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61B4A-7778-45E6-A9CE-6CB3D8DC31B9}" type="datetimeFigureOut">
              <a:rPr lang="en-IN" smtClean="0"/>
              <a:pPr/>
              <a:t>26-02-2026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A54B4-6092-4124-8208-BCF2AF99010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7318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61B4A-7778-45E6-A9CE-6CB3D8DC31B9}" type="datetimeFigureOut">
              <a:rPr lang="en-IN" smtClean="0"/>
              <a:pPr/>
              <a:t>26-02-2026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A54B4-6092-4124-8208-BCF2AF99010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4008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61B4A-7778-45E6-A9CE-6CB3D8DC31B9}" type="datetimeFigureOut">
              <a:rPr lang="en-IN" smtClean="0"/>
              <a:pPr/>
              <a:t>26-02-2026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A54B4-6092-4124-8208-BCF2AF99010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2721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61B4A-7778-45E6-A9CE-6CB3D8DC31B9}" type="datetimeFigureOut">
              <a:rPr lang="en-IN" smtClean="0"/>
              <a:pPr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A54B4-6092-4124-8208-BCF2AF99010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9253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61B4A-7778-45E6-A9CE-6CB3D8DC31B9}" type="datetimeFigureOut">
              <a:rPr lang="en-IN" smtClean="0"/>
              <a:pPr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A54B4-6092-4124-8208-BCF2AF990104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831427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61B4A-7778-45E6-A9CE-6CB3D8DC31B9}" type="datetimeFigureOut">
              <a:rPr lang="en-IN" smtClean="0"/>
              <a:pPr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A54B4-6092-4124-8208-BCF2AF99010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1903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61B4A-7778-45E6-A9CE-6CB3D8DC31B9}" type="datetimeFigureOut">
              <a:rPr lang="en-IN" smtClean="0"/>
              <a:pPr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A54B4-6092-4124-8208-BCF2AF990104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820340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61B4A-7778-45E6-A9CE-6CB3D8DC31B9}" type="datetimeFigureOut">
              <a:rPr lang="en-IN" smtClean="0"/>
              <a:pPr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A54B4-6092-4124-8208-BCF2AF99010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2549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61B4A-7778-45E6-A9CE-6CB3D8DC31B9}" type="datetimeFigureOut">
              <a:rPr lang="en-IN" smtClean="0"/>
              <a:pPr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A54B4-6092-4124-8208-BCF2AF99010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05432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E61B4A-7778-45E6-A9CE-6CB3D8DC31B9}" type="datetimeFigureOut">
              <a:rPr lang="en-IN" smtClean="0"/>
              <a:pPr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BA54B4-6092-4124-8208-BCF2AF99010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2762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E61B4A-7778-45E6-A9CE-6CB3D8DC31B9}" type="datetimeFigureOut">
              <a:rPr lang="en-IN" smtClean="0"/>
              <a:pPr/>
              <a:t>26-02-2026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1BA54B4-6092-4124-8208-BCF2AF990104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9795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AoBkibslRBM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256674" y="297548"/>
            <a:ext cx="11935326" cy="106680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 </a:t>
            </a:r>
            <a:r>
              <a:rPr lang="en-US" sz="3600" b="1" dirty="0">
                <a:solidFill>
                  <a:schemeClr val="tx1"/>
                </a:solidFill>
              </a:rPr>
              <a:t>RISC-V PROCESSOR: ARCHITECTURE AND ITS APPLICATION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63669" y="1689204"/>
            <a:ext cx="6300538" cy="1729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000099"/>
                </a:solidFill>
                <a:latin typeface="Times New Roman" pitchFamily="18" charset="0"/>
                <a:cs typeface="Times New Roman" pitchFamily="18" charset="0"/>
              </a:rPr>
              <a:t>Presented by:</a:t>
            </a:r>
          </a:p>
          <a:p>
            <a:pPr algn="ctr">
              <a:lnSpc>
                <a:spcPct val="150000"/>
              </a:lnSpc>
            </a:pPr>
            <a:r>
              <a:rPr lang="en-IN" sz="2000" b="1" dirty="0">
                <a:solidFill>
                  <a:srgbClr val="000099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Suryansh Shukla</a:t>
            </a:r>
          </a:p>
          <a:p>
            <a:pPr algn="ctr">
              <a:lnSpc>
                <a:spcPct val="150000"/>
              </a:lnSpc>
            </a:pPr>
            <a:r>
              <a:rPr lang="en-IN" sz="2000" b="1" dirty="0">
                <a:solidFill>
                  <a:srgbClr val="000099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2023041074</a:t>
            </a:r>
            <a:endParaRPr lang="en-US" sz="2000" dirty="0">
              <a:solidFill>
                <a:srgbClr val="000099"/>
              </a:solidFill>
              <a:latin typeface="Times New Roman" pitchFamily="18" charset="0"/>
              <a:ea typeface="Calibri"/>
              <a:cs typeface="Times New Roman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rgbClr val="000099"/>
                </a:solidFill>
                <a:latin typeface="Times New Roman" pitchFamily="18" charset="0"/>
                <a:ea typeface="Calibri"/>
                <a:cs typeface="Times New Roman" pitchFamily="18" charset="0"/>
              </a:rPr>
              <a:t>  </a:t>
            </a:r>
            <a:endParaRPr lang="en-US" sz="2000" dirty="0">
              <a:solidFill>
                <a:srgbClr val="000099"/>
              </a:solidFill>
              <a:latin typeface="Times New Roman" pitchFamily="18" charset="0"/>
              <a:ea typeface="Calibri"/>
              <a:cs typeface="Times New Roman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77515" y="1116392"/>
            <a:ext cx="1089258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rgbClr val="C00000"/>
                </a:solidFill>
              </a:rPr>
              <a:t> </a:t>
            </a:r>
            <a:r>
              <a:rPr lang="en-US" sz="2800" b="1" dirty="0" err="1">
                <a:solidFill>
                  <a:srgbClr val="C00000"/>
                </a:solidFill>
              </a:rPr>
              <a:t>B.Tech</a:t>
            </a:r>
            <a:r>
              <a:rPr lang="en-US" sz="2800" b="1" dirty="0">
                <a:solidFill>
                  <a:srgbClr val="C00000"/>
                </a:solidFill>
              </a:rPr>
              <a:t> (ECE)</a:t>
            </a:r>
            <a:endParaRPr lang="en-IN" sz="2800" b="1" dirty="0">
              <a:solidFill>
                <a:srgbClr val="C0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96779" y="5326109"/>
            <a:ext cx="115984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Department of Electronics and Communication Engineering, </a:t>
            </a:r>
          </a:p>
          <a:p>
            <a:pPr algn="ctr"/>
            <a:r>
              <a:rPr lang="en-US" sz="2400" b="1" dirty="0"/>
              <a:t>Madan Mohan Malaviya University of Technology, Gorakhpur (UP) , India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3691" y="2988303"/>
            <a:ext cx="2180493" cy="2180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341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0560" y="550985"/>
            <a:ext cx="10515600" cy="914400"/>
          </a:xfrm>
        </p:spPr>
        <p:txBody>
          <a:bodyPr>
            <a:normAutofit/>
          </a:bodyPr>
          <a:lstStyle/>
          <a:p>
            <a:pPr algn="ctr"/>
            <a:r>
              <a:rPr lang="en-IN" sz="3200" b="1" dirty="0">
                <a:latin typeface="+mn-lt"/>
              </a:rPr>
              <a:t>Outline of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0560" y="1465385"/>
            <a:ext cx="11377061" cy="3813220"/>
          </a:xfrm>
        </p:spPr>
        <p:txBody>
          <a:bodyPr/>
          <a:lstStyle/>
          <a:p>
            <a:pPr>
              <a:buNone/>
            </a:pPr>
            <a:endParaRPr lang="en-US" sz="2000" b="1" dirty="0"/>
          </a:p>
          <a:p>
            <a:r>
              <a:rPr lang="en-US" sz="2000" dirty="0"/>
              <a:t>Introduction</a:t>
            </a:r>
          </a:p>
          <a:p>
            <a:r>
              <a:rPr lang="en-US" sz="2000" dirty="0"/>
              <a:t>Literature Review</a:t>
            </a:r>
          </a:p>
          <a:p>
            <a:r>
              <a:rPr lang="en-US" sz="2000" dirty="0"/>
              <a:t>Methodology And Technical Details</a:t>
            </a:r>
          </a:p>
          <a:p>
            <a:r>
              <a:rPr lang="en-US" sz="2000" dirty="0"/>
              <a:t>Applications</a:t>
            </a:r>
          </a:p>
          <a:p>
            <a:r>
              <a:rPr lang="en-IN" sz="2000" dirty="0"/>
              <a:t>Future Work</a:t>
            </a:r>
            <a:endParaRPr lang="en-US" sz="2000" dirty="0"/>
          </a:p>
          <a:p>
            <a:r>
              <a:rPr lang="en-US" sz="2000" dirty="0"/>
              <a:t>Conclusion</a:t>
            </a:r>
          </a:p>
          <a:p>
            <a:r>
              <a:rPr lang="en-IN" sz="2000" dirty="0"/>
              <a:t>References</a:t>
            </a:r>
            <a:endParaRPr lang="en-US" sz="2000" dirty="0"/>
          </a:p>
          <a:p>
            <a:pPr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9519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183287"/>
            <a:ext cx="10515600" cy="711321"/>
          </a:xfrm>
        </p:spPr>
        <p:txBody>
          <a:bodyPr/>
          <a:lstStyle/>
          <a:p>
            <a:pPr algn="ctr"/>
            <a:r>
              <a:rPr lang="en-US" b="1" u="sng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2718" y="1076447"/>
            <a:ext cx="11646565" cy="541642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/>
              <a:t>1.1 Introduction to microprocessor </a:t>
            </a:r>
          </a:p>
          <a:p>
            <a:r>
              <a:rPr lang="en-US" sz="2000" b="1" dirty="0"/>
              <a:t> </a:t>
            </a:r>
            <a:r>
              <a:rPr lang="en-IN" sz="2000" dirty="0"/>
              <a:t>Electronic programmable computing device</a:t>
            </a:r>
          </a:p>
          <a:p>
            <a:r>
              <a:rPr lang="en-IN" sz="2000" dirty="0"/>
              <a:t>Executes stored program instructions</a:t>
            </a:r>
          </a:p>
          <a:p>
            <a:r>
              <a:rPr lang="en-IN" sz="2000" dirty="0"/>
              <a:t>Performs arithmetic and logic</a:t>
            </a:r>
          </a:p>
          <a:p>
            <a:r>
              <a:rPr lang="en-IN" sz="2000" dirty="0"/>
              <a:t>Controls system operations</a:t>
            </a:r>
          </a:p>
          <a:p>
            <a:r>
              <a:rPr lang="en-IN" sz="2000" dirty="0"/>
              <a:t>Central Processing Unit (CPU)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US" sz="2000" b="1" dirty="0"/>
              <a:t>1.2 Evolution of Instruction Set Architecture</a:t>
            </a:r>
          </a:p>
          <a:p>
            <a:r>
              <a:rPr lang="en-US" sz="2000" dirty="0"/>
              <a:t>Early simple processors</a:t>
            </a:r>
          </a:p>
          <a:p>
            <a:r>
              <a:rPr lang="en-US" sz="2000" dirty="0"/>
              <a:t>Introduction of CISC architecture</a:t>
            </a:r>
          </a:p>
          <a:p>
            <a:r>
              <a:rPr lang="en-US" sz="2000" dirty="0"/>
              <a:t>Development of RISC concept</a:t>
            </a:r>
          </a:p>
          <a:p>
            <a:r>
              <a:rPr lang="en-US" sz="2000" dirty="0"/>
              <a:t>Need for performance improvement</a:t>
            </a:r>
          </a:p>
          <a:p>
            <a:r>
              <a:rPr lang="en-US" sz="2000" dirty="0"/>
              <a:t>Emergence of open ISAs</a:t>
            </a:r>
          </a:p>
          <a:p>
            <a:endParaRPr lang="en-IN" sz="2000" dirty="0"/>
          </a:p>
          <a:p>
            <a:pPr marL="0" indent="0">
              <a:buNone/>
            </a:pPr>
            <a:endParaRPr lang="en-US" sz="2000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5BF9010-3D57-46D9-DE87-DC5805C2AC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7840" y="1240923"/>
            <a:ext cx="4480560" cy="326166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EA4AEC-958D-B8F9-4203-39E093DD77BA}"/>
              </a:ext>
            </a:extLst>
          </p:cNvPr>
          <p:cNvSpPr txBox="1"/>
          <p:nvPr/>
        </p:nvSpPr>
        <p:spPr>
          <a:xfrm>
            <a:off x="5577840" y="4667061"/>
            <a:ext cx="4726003" cy="12054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marR="4445" indent="-6350">
              <a:spcAft>
                <a:spcPts val="1000"/>
              </a:spcAft>
              <a:buNone/>
            </a:pPr>
            <a:r>
              <a:rPr lang="en-IN" sz="1600" i="1" kern="100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Figure 1: The organization of a computer, showing the five classic components.</a:t>
            </a:r>
          </a:p>
          <a:p>
            <a:pPr marL="6350" marR="4445" indent="-6350">
              <a:spcAft>
                <a:spcPts val="1000"/>
              </a:spcAft>
              <a:buNone/>
            </a:pPr>
            <a:r>
              <a:rPr lang="en-IN" sz="1600" i="1" kern="100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Source: Computer Organisation and Design, David A. Patterson, John L. Hennessy, 2018</a:t>
            </a:r>
          </a:p>
        </p:txBody>
      </p:sp>
    </p:spTree>
    <p:extLst>
      <p:ext uri="{BB962C8B-B14F-4D97-AF65-F5344CB8AC3E}">
        <p14:creationId xmlns:p14="http://schemas.microsoft.com/office/powerpoint/2010/main" val="14278016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84995-0542-A9DF-A7EB-1C77F7F6AB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520" y="289560"/>
            <a:ext cx="11612880" cy="6096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1.3 CISC vs RISC Architecture</a:t>
            </a:r>
          </a:p>
          <a:p>
            <a:r>
              <a:rPr lang="en-US" sz="2000" dirty="0"/>
              <a:t>Complex vs simple instructions</a:t>
            </a:r>
          </a:p>
          <a:p>
            <a:r>
              <a:rPr lang="en-US" sz="2000" dirty="0"/>
              <a:t>Variable vs fixed length</a:t>
            </a:r>
          </a:p>
          <a:p>
            <a:r>
              <a:rPr lang="en-US" sz="2000" dirty="0"/>
              <a:t>Memory-to-memory vs load-store</a:t>
            </a:r>
          </a:p>
          <a:p>
            <a:r>
              <a:rPr lang="en-US" sz="2000" dirty="0"/>
              <a:t>Fewer vs more registers</a:t>
            </a:r>
          </a:p>
          <a:p>
            <a:r>
              <a:rPr lang="en-US" sz="2000" dirty="0"/>
              <a:t>Performance and power comparison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1.4 Need for Open Instruction Set</a:t>
            </a:r>
          </a:p>
          <a:p>
            <a:r>
              <a:rPr lang="en-US" sz="2000" dirty="0"/>
              <a:t>Reduce licensing cost</a:t>
            </a:r>
          </a:p>
          <a:p>
            <a:r>
              <a:rPr lang="en-US" sz="2000" dirty="0"/>
              <a:t>Encourage innovation</a:t>
            </a:r>
          </a:p>
          <a:p>
            <a:r>
              <a:rPr lang="en-US" sz="2000" dirty="0"/>
              <a:t>Academic research support</a:t>
            </a:r>
          </a:p>
          <a:p>
            <a:r>
              <a:rPr lang="en-US" sz="2000" dirty="0"/>
              <a:t>Custom processor development</a:t>
            </a:r>
          </a:p>
          <a:p>
            <a:r>
              <a:rPr lang="en-US" sz="2000" dirty="0"/>
              <a:t>Industry flexibility</a:t>
            </a:r>
          </a:p>
          <a:p>
            <a:pPr marL="0" indent="0">
              <a:buNone/>
            </a:pPr>
            <a:endParaRPr lang="en-IN" sz="18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4A4FAD5-81D6-F65B-5152-DB8E5C781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5360" y="224797"/>
            <a:ext cx="6751320" cy="422909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88D45B9-22F9-7753-2305-A615055FACDA}"/>
              </a:ext>
            </a:extLst>
          </p:cNvPr>
          <p:cNvSpPr txBox="1"/>
          <p:nvPr/>
        </p:nvSpPr>
        <p:spPr>
          <a:xfrm>
            <a:off x="4785360" y="4518655"/>
            <a:ext cx="6751320" cy="959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marR="4445" indent="-6350">
              <a:spcAft>
                <a:spcPts val="1000"/>
              </a:spcAft>
              <a:buNone/>
            </a:pPr>
            <a:r>
              <a:rPr lang="en-IN" sz="1600" i="1" kern="100" dirty="0">
                <a:solidFill>
                  <a:srgbClr val="44546A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Figure 2: CISC VS RISC         </a:t>
            </a:r>
          </a:p>
          <a:p>
            <a:pPr marL="6350" marR="4445" indent="-6350">
              <a:spcAft>
                <a:spcPts val="1000"/>
              </a:spcAft>
              <a:buNone/>
            </a:pPr>
            <a:r>
              <a:rPr lang="en-IN" sz="1600" i="1" kern="100" dirty="0">
                <a:solidFill>
                  <a:srgbClr val="44546A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Source: </a:t>
            </a:r>
            <a:r>
              <a:rPr lang="en-US" sz="1600" i="1" dirty="0"/>
              <a:t>Processor Architecture Design Practices: survey &amp; Issues SADHNA K. MISHRA, ARVIND RAJAWAT, R.P. SINGH,2010</a:t>
            </a:r>
            <a:endParaRPr lang="en-IN" sz="1600" i="1" kern="100" dirty="0">
              <a:solidFill>
                <a:srgbClr val="44546A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6268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FB05E4-382C-B1D2-D6E1-C0D076083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3880" y="312420"/>
            <a:ext cx="11323320" cy="623316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sz="2900" b="1" dirty="0"/>
              <a:t>1.5 Introduction to RISC Architecture</a:t>
            </a:r>
          </a:p>
          <a:p>
            <a:r>
              <a:rPr lang="en-US" sz="2900" dirty="0"/>
              <a:t>Reduced Instruction Set Computer</a:t>
            </a:r>
          </a:p>
          <a:p>
            <a:r>
              <a:rPr lang="en-US" sz="2900" dirty="0"/>
              <a:t>Simple fixed-length instructions</a:t>
            </a:r>
          </a:p>
          <a:p>
            <a:r>
              <a:rPr lang="en-US" sz="2900" dirty="0"/>
              <a:t>Load-store based design</a:t>
            </a:r>
          </a:p>
          <a:p>
            <a:r>
              <a:rPr lang="en-US" sz="2900" dirty="0"/>
              <a:t>Efficient pipelining</a:t>
            </a:r>
          </a:p>
          <a:p>
            <a:r>
              <a:rPr lang="en-US" sz="2900" dirty="0"/>
              <a:t>High performance and efficiency</a:t>
            </a:r>
          </a:p>
          <a:p>
            <a:pPr marL="0" indent="0">
              <a:buNone/>
            </a:pPr>
            <a:endParaRPr lang="en-US" sz="2900" dirty="0"/>
          </a:p>
          <a:p>
            <a:pPr marL="0" indent="0">
              <a:buNone/>
            </a:pPr>
            <a:r>
              <a:rPr lang="en-US" sz="2900" b="1" dirty="0"/>
              <a:t>1.6 Motivation</a:t>
            </a:r>
          </a:p>
          <a:p>
            <a:r>
              <a:rPr lang="en-US" sz="2900" dirty="0"/>
              <a:t>Growing demand for customization</a:t>
            </a:r>
          </a:p>
          <a:p>
            <a:r>
              <a:rPr lang="en-US" sz="2900" dirty="0"/>
              <a:t>Limitations of proprietary ISAs</a:t>
            </a:r>
          </a:p>
          <a:p>
            <a:r>
              <a:rPr lang="en-US" sz="2900" dirty="0"/>
              <a:t>Need for scalable architecture</a:t>
            </a:r>
          </a:p>
          <a:p>
            <a:r>
              <a:rPr lang="en-US" sz="2900" dirty="0"/>
              <a:t>Industry shift toward openness</a:t>
            </a:r>
          </a:p>
          <a:p>
            <a:pPr marL="0" indent="0">
              <a:buNone/>
            </a:pPr>
            <a:endParaRPr lang="en-US" sz="2900" dirty="0"/>
          </a:p>
          <a:p>
            <a:pPr marL="0" indent="0">
              <a:buNone/>
            </a:pPr>
            <a:r>
              <a:rPr lang="en-US" sz="2900" b="1" dirty="0"/>
              <a:t>1.7 Objectives</a:t>
            </a:r>
          </a:p>
          <a:p>
            <a:r>
              <a:rPr lang="en-US" sz="2900" dirty="0"/>
              <a:t>Understand ISA fundamentals</a:t>
            </a:r>
          </a:p>
          <a:p>
            <a:r>
              <a:rPr lang="en-US" sz="2900" dirty="0"/>
              <a:t>Compare CISC and RISC</a:t>
            </a:r>
          </a:p>
          <a:p>
            <a:r>
              <a:rPr lang="en-US" sz="2900" dirty="0"/>
              <a:t>Study RISC-V architecture</a:t>
            </a:r>
          </a:p>
          <a:p>
            <a:r>
              <a:rPr lang="en-US" sz="2900" dirty="0"/>
              <a:t>Analyze extensions and applications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7717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82879"/>
            <a:ext cx="10896600" cy="899161"/>
          </a:xfrm>
        </p:spPr>
        <p:txBody>
          <a:bodyPr>
            <a:normAutofit/>
          </a:bodyPr>
          <a:lstStyle/>
          <a:p>
            <a:pPr algn="ctr"/>
            <a:r>
              <a:rPr lang="en-US" b="1" dirty="0"/>
              <a:t>Literature Review</a:t>
            </a:r>
            <a:endParaRPr lang="en-IN" b="1" dirty="0"/>
          </a:p>
        </p:txBody>
      </p:sp>
      <p:graphicFrame>
        <p:nvGraphicFramePr>
          <p:cNvPr id="16" name="Content Placeholder 15">
            <a:extLst>
              <a:ext uri="{FF2B5EF4-FFF2-40B4-BE49-F238E27FC236}">
                <a16:creationId xmlns:a16="http://schemas.microsoft.com/office/drawing/2014/main" id="{41450783-F021-2E26-A819-21E1A246F5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68144886"/>
              </p:ext>
            </p:extLst>
          </p:nvPr>
        </p:nvGraphicFramePr>
        <p:xfrm>
          <a:off x="299987" y="736725"/>
          <a:ext cx="11592026" cy="5410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DB0AEB4-123D-2ECD-9095-CE1AD7E2BF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0146837"/>
              </p:ext>
            </p:extLst>
          </p:nvPr>
        </p:nvGraphicFramePr>
        <p:xfrm>
          <a:off x="457199" y="2316480"/>
          <a:ext cx="10896601" cy="350113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90127">
                  <a:extLst>
                    <a:ext uri="{9D8B030D-6E8A-4147-A177-3AD203B41FA5}">
                      <a16:colId xmlns:a16="http://schemas.microsoft.com/office/drawing/2014/main" val="998074779"/>
                    </a:ext>
                  </a:extLst>
                </a:gridCol>
                <a:gridCol w="3042073">
                  <a:extLst>
                    <a:ext uri="{9D8B030D-6E8A-4147-A177-3AD203B41FA5}">
                      <a16:colId xmlns:a16="http://schemas.microsoft.com/office/drawing/2014/main" val="615422145"/>
                    </a:ext>
                  </a:extLst>
                </a:gridCol>
                <a:gridCol w="1790333">
                  <a:extLst>
                    <a:ext uri="{9D8B030D-6E8A-4147-A177-3AD203B41FA5}">
                      <a16:colId xmlns:a16="http://schemas.microsoft.com/office/drawing/2014/main" val="35165339"/>
                    </a:ext>
                  </a:extLst>
                </a:gridCol>
                <a:gridCol w="1026492">
                  <a:extLst>
                    <a:ext uri="{9D8B030D-6E8A-4147-A177-3AD203B41FA5}">
                      <a16:colId xmlns:a16="http://schemas.microsoft.com/office/drawing/2014/main" val="1820249776"/>
                    </a:ext>
                  </a:extLst>
                </a:gridCol>
                <a:gridCol w="1566337">
                  <a:extLst>
                    <a:ext uri="{9D8B030D-6E8A-4147-A177-3AD203B41FA5}">
                      <a16:colId xmlns:a16="http://schemas.microsoft.com/office/drawing/2014/main" val="4062172899"/>
                    </a:ext>
                  </a:extLst>
                </a:gridCol>
                <a:gridCol w="2881239">
                  <a:extLst>
                    <a:ext uri="{9D8B030D-6E8A-4147-A177-3AD203B41FA5}">
                      <a16:colId xmlns:a16="http://schemas.microsoft.com/office/drawing/2014/main" val="1102363547"/>
                    </a:ext>
                  </a:extLst>
                </a:gridCol>
              </a:tblGrid>
              <a:tr h="669096">
                <a:tc>
                  <a:txBody>
                    <a:bodyPr/>
                    <a:lstStyle/>
                    <a:p>
                      <a:pPr marL="6350" marR="4445" indent="-6350" algn="ctr">
                        <a:lnSpc>
                          <a:spcPct val="150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S. No.</a:t>
                      </a:r>
                      <a:endParaRPr lang="en-IN" sz="12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350" marR="4445" indent="-6350" algn="ctr">
                        <a:lnSpc>
                          <a:spcPct val="150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IN" sz="1600" kern="100" dirty="0">
                          <a:effectLst/>
                        </a:rPr>
                        <a:t>Paper Title</a:t>
                      </a:r>
                      <a:endParaRPr lang="en-IN" sz="16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350" marR="4445" indent="-6350" algn="ctr">
                        <a:lnSpc>
                          <a:spcPct val="150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Authors</a:t>
                      </a:r>
                      <a:endParaRPr lang="en-IN" sz="16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350" marR="4445" indent="-6350" algn="ctr">
                        <a:lnSpc>
                          <a:spcPct val="150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Year</a:t>
                      </a:r>
                      <a:endParaRPr lang="en-IN" sz="16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350" marR="4445" indent="-6350" algn="ctr">
                        <a:lnSpc>
                          <a:spcPct val="150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Institution / Journal</a:t>
                      </a:r>
                      <a:endParaRPr lang="en-IN" sz="16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350" marR="4445" indent="-6350" algn="ctr">
                        <a:lnSpc>
                          <a:spcPct val="150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Key Contribution</a:t>
                      </a:r>
                      <a:endParaRPr lang="en-IN" sz="16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64793840"/>
                  </a:ext>
                </a:extLst>
              </a:tr>
              <a:tr h="1022544">
                <a:tc>
                  <a:txBody>
                    <a:bodyPr/>
                    <a:lstStyle/>
                    <a:p>
                      <a:pPr marL="6350" marR="4445" indent="-6350" algn="ctr">
                        <a:lnSpc>
                          <a:spcPct val="150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1</a:t>
                      </a:r>
                      <a:endParaRPr lang="en-IN" sz="12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350" marR="4445" indent="-6350" algn="ctr">
                        <a:lnSpc>
                          <a:spcPct val="150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IN" sz="1600" kern="100" dirty="0">
                          <a:effectLst/>
                        </a:rPr>
                        <a:t>The Case for the Reduced Instruction Set Computer</a:t>
                      </a:r>
                      <a:endParaRPr lang="en-IN" sz="16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350" marR="4445" indent="-6350" algn="ctr">
                        <a:lnSpc>
                          <a:spcPct val="150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IN" sz="1600" kern="100" dirty="0">
                          <a:effectLst/>
                        </a:rPr>
                        <a:t>David A. Patterson, David R. Ditzel</a:t>
                      </a:r>
                      <a:endParaRPr lang="en-IN" sz="16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350" marR="4445" indent="-6350" algn="ctr">
                        <a:lnSpc>
                          <a:spcPct val="150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IN" sz="1600" kern="100" dirty="0">
                          <a:effectLst/>
                        </a:rPr>
                        <a:t>1980</a:t>
                      </a:r>
                      <a:endParaRPr lang="en-IN" sz="16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350" marR="4445" indent="-6350" algn="ctr">
                        <a:lnSpc>
                          <a:spcPct val="150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ACM SIGARCH</a:t>
                      </a:r>
                      <a:endParaRPr lang="en-IN" sz="16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350" marR="4445" indent="-6350" algn="ctr">
                        <a:lnSpc>
                          <a:spcPct val="150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IN" sz="1600" kern="100" dirty="0">
                          <a:effectLst/>
                        </a:rPr>
                        <a:t>Introduced RISC concept; argued simpler instructions improve performance via pipelining.</a:t>
                      </a:r>
                      <a:endParaRPr lang="en-IN" sz="16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45858854"/>
                  </a:ext>
                </a:extLst>
              </a:tr>
              <a:tr h="1022544">
                <a:tc>
                  <a:txBody>
                    <a:bodyPr/>
                    <a:lstStyle/>
                    <a:p>
                      <a:pPr marL="6350" marR="4445" indent="-6350" algn="ctr">
                        <a:lnSpc>
                          <a:spcPct val="150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2</a:t>
                      </a:r>
                      <a:endParaRPr lang="en-IN" sz="12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350" marR="4445" indent="-6350" algn="ctr">
                        <a:lnSpc>
                          <a:spcPct val="150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IN" sz="1600" kern="100" dirty="0">
                          <a:effectLst/>
                        </a:rPr>
                        <a:t>RISC I: A Reduced Instruction Set VLSI Computer</a:t>
                      </a:r>
                      <a:endParaRPr lang="en-IN" sz="16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350" marR="4445" indent="-6350" algn="ctr">
                        <a:lnSpc>
                          <a:spcPct val="150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IN" sz="1600" kern="100" dirty="0">
                          <a:effectLst/>
                          <a:latin typeface="+mj-lt"/>
                        </a:rPr>
                        <a:t>David A. Patterson,</a:t>
                      </a:r>
                    </a:p>
                    <a:p>
                      <a:pPr marL="6350" marR="4445" indent="-6350" algn="ctr">
                        <a:lnSpc>
                          <a:spcPct val="150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IN" sz="16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Carlo H. Sequin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350" marR="4445" indent="-6350" algn="ctr">
                        <a:lnSpc>
                          <a:spcPct val="150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IN" sz="1600" kern="100" dirty="0">
                          <a:effectLst/>
                        </a:rPr>
                        <a:t>1981</a:t>
                      </a:r>
                      <a:endParaRPr lang="en-IN" sz="16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350" marR="4445" indent="-6350" algn="ctr">
                        <a:lnSpc>
                          <a:spcPct val="150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UC Berkeley</a:t>
                      </a:r>
                      <a:endParaRPr lang="en-IN" sz="16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350" marR="4445" indent="-6350" algn="ctr">
                        <a:lnSpc>
                          <a:spcPct val="150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Demonstrated load–store architecture and fixed-length instruction benefits.</a:t>
                      </a:r>
                      <a:endParaRPr lang="en-IN" sz="16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48098407"/>
                  </a:ext>
                </a:extLst>
              </a:tr>
              <a:tr h="669096">
                <a:tc>
                  <a:txBody>
                    <a:bodyPr/>
                    <a:lstStyle/>
                    <a:p>
                      <a:pPr marL="6350" marR="4445" indent="-6350" algn="ctr">
                        <a:lnSpc>
                          <a:spcPct val="150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3</a:t>
                      </a:r>
                      <a:endParaRPr lang="en-IN" sz="12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350" marR="4445" indent="-6350" algn="ctr">
                        <a:lnSpc>
                          <a:spcPct val="150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IN" sz="1600" kern="100" dirty="0">
                          <a:effectLst/>
                        </a:rPr>
                        <a:t>MIPS: A Microprocessor Architecture</a:t>
                      </a:r>
                      <a:endParaRPr lang="en-IN" sz="16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350" marR="4445" indent="-6350" algn="ctr">
                        <a:lnSpc>
                          <a:spcPct val="150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IN" sz="1600" kern="100" dirty="0">
                          <a:effectLst/>
                        </a:rPr>
                        <a:t>John L. Hennessy</a:t>
                      </a:r>
                      <a:endParaRPr lang="en-IN" sz="16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350" marR="4445" indent="-6350" algn="ctr">
                        <a:lnSpc>
                          <a:spcPct val="150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1982</a:t>
                      </a:r>
                      <a:endParaRPr lang="en-IN" sz="16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350" marR="4445" indent="-6350" algn="ctr">
                        <a:lnSpc>
                          <a:spcPct val="150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Stanford University</a:t>
                      </a:r>
                      <a:endParaRPr lang="en-IN" sz="16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350" marR="4445" indent="-6350" algn="ctr">
                        <a:lnSpc>
                          <a:spcPct val="150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IN" sz="1600" kern="100" dirty="0">
                          <a:effectLst/>
                        </a:rPr>
                        <a:t>Introduced pipeline optimization and compiler-based scheduling.</a:t>
                      </a:r>
                      <a:endParaRPr lang="en-IN" sz="16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191288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5892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Content Placeholder 17">
            <a:extLst>
              <a:ext uri="{FF2B5EF4-FFF2-40B4-BE49-F238E27FC236}">
                <a16:creationId xmlns:a16="http://schemas.microsoft.com/office/drawing/2014/main" id="{C1D27157-EB74-974F-6523-EB4C6CAC109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05397970"/>
              </p:ext>
            </p:extLst>
          </p:nvPr>
        </p:nvGraphicFramePr>
        <p:xfrm>
          <a:off x="289560" y="335280"/>
          <a:ext cx="11551920" cy="62788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6" name="Content Placeholder 3">
            <a:extLst>
              <a:ext uri="{FF2B5EF4-FFF2-40B4-BE49-F238E27FC236}">
                <a16:creationId xmlns:a16="http://schemas.microsoft.com/office/drawing/2014/main" id="{008ADB2D-A1BD-DC07-5C08-FC6719F2AA7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35159917"/>
              </p:ext>
            </p:extLst>
          </p:nvPr>
        </p:nvGraphicFramePr>
        <p:xfrm>
          <a:off x="541020" y="2310633"/>
          <a:ext cx="10835640" cy="295200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54380">
                  <a:extLst>
                    <a:ext uri="{9D8B030D-6E8A-4147-A177-3AD203B41FA5}">
                      <a16:colId xmlns:a16="http://schemas.microsoft.com/office/drawing/2014/main" val="1631850579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526981747"/>
                    </a:ext>
                  </a:extLst>
                </a:gridCol>
                <a:gridCol w="1805940">
                  <a:extLst>
                    <a:ext uri="{9D8B030D-6E8A-4147-A177-3AD203B41FA5}">
                      <a16:colId xmlns:a16="http://schemas.microsoft.com/office/drawing/2014/main" val="955797082"/>
                    </a:ext>
                  </a:extLst>
                </a:gridCol>
                <a:gridCol w="815074">
                  <a:extLst>
                    <a:ext uri="{9D8B030D-6E8A-4147-A177-3AD203B41FA5}">
                      <a16:colId xmlns:a16="http://schemas.microsoft.com/office/drawing/2014/main" val="3154433735"/>
                    </a:ext>
                  </a:extLst>
                </a:gridCol>
                <a:gridCol w="1598176">
                  <a:extLst>
                    <a:ext uri="{9D8B030D-6E8A-4147-A177-3AD203B41FA5}">
                      <a16:colId xmlns:a16="http://schemas.microsoft.com/office/drawing/2014/main" val="3216707536"/>
                    </a:ext>
                  </a:extLst>
                </a:gridCol>
                <a:gridCol w="3004570">
                  <a:extLst>
                    <a:ext uri="{9D8B030D-6E8A-4147-A177-3AD203B41FA5}">
                      <a16:colId xmlns:a16="http://schemas.microsoft.com/office/drawing/2014/main" val="2878836500"/>
                    </a:ext>
                  </a:extLst>
                </a:gridCol>
              </a:tblGrid>
              <a:tr h="749073">
                <a:tc>
                  <a:txBody>
                    <a:bodyPr/>
                    <a:lstStyle/>
                    <a:p>
                      <a:pPr marL="6350" marR="4445" indent="-6350" algn="just">
                        <a:lnSpc>
                          <a:spcPct val="150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IN" sz="1600" kern="100" dirty="0">
                          <a:effectLst/>
                        </a:rPr>
                        <a:t>S. No.</a:t>
                      </a:r>
                      <a:endParaRPr lang="en-IN" sz="16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350" marR="4445" indent="-6350" algn="just">
                        <a:lnSpc>
                          <a:spcPct val="150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IN" sz="1600" kern="100" dirty="0">
                          <a:effectLst/>
                        </a:rPr>
                        <a:t>Paper Title</a:t>
                      </a:r>
                      <a:endParaRPr lang="en-IN" sz="16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350" marR="4445" indent="-6350" algn="just">
                        <a:lnSpc>
                          <a:spcPct val="150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IN" sz="1600" kern="100" dirty="0">
                          <a:effectLst/>
                        </a:rPr>
                        <a:t>Authors</a:t>
                      </a:r>
                      <a:endParaRPr lang="en-IN" sz="16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350" marR="4445" indent="-6350" algn="just">
                        <a:lnSpc>
                          <a:spcPct val="150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Year</a:t>
                      </a:r>
                      <a:endParaRPr lang="en-IN" sz="16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350" marR="4445" indent="-6350" algn="just">
                        <a:lnSpc>
                          <a:spcPct val="150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Institution / Journal</a:t>
                      </a:r>
                      <a:endParaRPr lang="en-IN" sz="16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350" marR="4445" indent="-6350" algn="just">
                        <a:lnSpc>
                          <a:spcPct val="150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Key Contribution</a:t>
                      </a:r>
                      <a:endParaRPr lang="en-IN" sz="16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31187668"/>
                  </a:ext>
                </a:extLst>
              </a:tr>
              <a:tr h="1144768">
                <a:tc>
                  <a:txBody>
                    <a:bodyPr/>
                    <a:lstStyle/>
                    <a:p>
                      <a:pPr marL="6350" marR="4445" indent="-6350" algn="just">
                        <a:lnSpc>
                          <a:spcPct val="150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1</a:t>
                      </a:r>
                      <a:endParaRPr lang="en-IN" sz="16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350" marR="4445" indent="-6350" algn="just">
                        <a:lnSpc>
                          <a:spcPct val="150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IN" sz="1600" kern="100" dirty="0">
                          <a:effectLst/>
                        </a:rPr>
                        <a:t>The RISC-V Instruction Set Manual, Volume I: User-Level ISA</a:t>
                      </a:r>
                      <a:endParaRPr lang="en-IN" sz="16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350" marR="4445" indent="-6350" algn="just">
                        <a:lnSpc>
                          <a:spcPct val="150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IN" sz="1600" kern="100" dirty="0">
                          <a:effectLst/>
                        </a:rPr>
                        <a:t>Andrew Waterman, Krste </a:t>
                      </a:r>
                      <a:r>
                        <a:rPr lang="en-IN" sz="1600" kern="100" dirty="0" err="1">
                          <a:effectLst/>
                        </a:rPr>
                        <a:t>Asanović</a:t>
                      </a:r>
                      <a:r>
                        <a:rPr lang="en-IN" sz="1600" kern="100" dirty="0">
                          <a:effectLst/>
                        </a:rPr>
                        <a:t> </a:t>
                      </a:r>
                      <a:endParaRPr lang="en-IN" sz="16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350" marR="4445" indent="-6350" algn="just">
                        <a:lnSpc>
                          <a:spcPct val="150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2011</a:t>
                      </a:r>
                      <a:endParaRPr lang="en-IN" sz="16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350" marR="4445" indent="-6350" algn="just">
                        <a:lnSpc>
                          <a:spcPct val="150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IN" sz="1600" kern="100" dirty="0">
                          <a:effectLst/>
                        </a:rPr>
                        <a:t>UC Berkeley</a:t>
                      </a:r>
                      <a:endParaRPr lang="en-IN" sz="16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350" marR="4445" indent="-6350" algn="just">
                        <a:lnSpc>
                          <a:spcPct val="150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IN" sz="1600" kern="100">
                          <a:effectLst/>
                        </a:rPr>
                        <a:t>Introduced open, modular, royalty-free ISA architecture.</a:t>
                      </a:r>
                      <a:endParaRPr lang="en-IN" sz="16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03478564"/>
                  </a:ext>
                </a:extLst>
              </a:tr>
              <a:tr h="723830">
                <a:tc>
                  <a:txBody>
                    <a:bodyPr/>
                    <a:lstStyle/>
                    <a:p>
                      <a:pPr marL="6350" marR="4445" indent="-6350" algn="just">
                        <a:lnSpc>
                          <a:spcPct val="150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IN" sz="1600" kern="100" dirty="0">
                          <a:effectLst/>
                        </a:rPr>
                        <a:t>2</a:t>
                      </a:r>
                      <a:endParaRPr lang="en-IN" sz="16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350" marR="4445" indent="-6350" algn="just">
                        <a:lnSpc>
                          <a:spcPct val="150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IN" sz="1600" kern="100" dirty="0">
                          <a:effectLst/>
                        </a:rPr>
                        <a:t>A Survey of RISC-V Architecture and Its Applications</a:t>
                      </a:r>
                      <a:endParaRPr lang="en-IN" sz="16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350" marR="4445" indent="-6350" algn="just">
                        <a:lnSpc>
                          <a:spcPct val="150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IN" sz="1600" kern="100" dirty="0">
                          <a:effectLst/>
                        </a:rPr>
                        <a:t>Yun sup Lee </a:t>
                      </a:r>
                      <a:endParaRPr lang="en-IN" sz="16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350" marR="4445" indent="-6350" algn="just">
                        <a:lnSpc>
                          <a:spcPct val="150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IN" sz="1600" kern="100" dirty="0">
                          <a:effectLst/>
                        </a:rPr>
                        <a:t>2019</a:t>
                      </a:r>
                      <a:endParaRPr lang="en-IN" sz="16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350" marR="4445" indent="-6350" algn="just">
                        <a:lnSpc>
                          <a:spcPct val="150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IN" sz="1600" kern="100" dirty="0">
                          <a:effectLst/>
                        </a:rPr>
                        <a:t>IEEE Access</a:t>
                      </a:r>
                      <a:endParaRPr lang="en-IN" sz="16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350" marR="4445" indent="-6350" algn="just">
                        <a:lnSpc>
                          <a:spcPct val="150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IN" sz="1600" kern="100" dirty="0">
                          <a:effectLst/>
                        </a:rPr>
                        <a:t>Analysed industrial adoption, AI extensions, IoT applications, scalability.</a:t>
                      </a:r>
                      <a:endParaRPr lang="en-IN" sz="16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881977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10388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Grp="1" noChangeArrowheads="1"/>
          </p:cNvSpPr>
          <p:nvPr>
            <p:ph type="title"/>
          </p:nvPr>
        </p:nvSpPr>
        <p:spPr>
          <a:xfrm>
            <a:off x="308343" y="242429"/>
            <a:ext cx="11026457" cy="644801"/>
          </a:xfrm>
        </p:spPr>
        <p:txBody>
          <a:bodyPr>
            <a:normAutofit/>
          </a:bodyPr>
          <a:lstStyle/>
          <a:p>
            <a:r>
              <a:rPr lang="en-US" b="1" dirty="0"/>
              <a:t>Methodology and Technical Details</a:t>
            </a:r>
            <a:endParaRPr lang="en-GB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164864-5D32-E383-7C0E-1F9ED0F325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343" y="930182"/>
            <a:ext cx="11660135" cy="51111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1.1 RISC-V Architecture</a:t>
            </a:r>
          </a:p>
          <a:p>
            <a:r>
              <a:rPr lang="en-IN" sz="2000" b="1" dirty="0"/>
              <a:t>Design Philosophy</a:t>
            </a:r>
          </a:p>
          <a:p>
            <a:pPr marL="0" indent="0">
              <a:buNone/>
            </a:pPr>
            <a:endParaRPr lang="en-IN" sz="2000" b="1" dirty="0"/>
          </a:p>
          <a:p>
            <a:endParaRPr lang="en-IN" sz="2000" b="1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</p:spPr>
        <p:txBody>
          <a:bodyPr/>
          <a:lstStyle/>
          <a:p>
            <a:fld id="{7C3B0A52-9DFB-44F1-9FC5-2E36131076EC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308344" y="1200339"/>
            <a:ext cx="11496299" cy="523506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87084" indent="-299990" defTabSz="967710">
              <a:spcBef>
                <a:spcPts val="635"/>
              </a:spcBef>
              <a:buClr>
                <a:schemeClr val="accent1"/>
              </a:buClr>
              <a:buSzPct val="80000"/>
              <a:defRPr/>
            </a:pPr>
            <a:endParaRPr lang="en-US" sz="2540" dirty="0"/>
          </a:p>
          <a:p>
            <a:pPr marL="387084" indent="-299990" defTabSz="967710">
              <a:spcBef>
                <a:spcPts val="635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/>
            </a:pPr>
            <a:endParaRPr lang="en-US" sz="2540" dirty="0">
              <a:latin typeface="Times New Roman" pitchFamily="18" charset="0"/>
              <a:cs typeface="Times New Roman" pitchFamily="18" charset="0"/>
            </a:endParaRPr>
          </a:p>
          <a:p>
            <a:pPr marL="290313" indent="-290313" defTabSz="967710">
              <a:spcBef>
                <a:spcPts val="635"/>
              </a:spcBef>
              <a:buClr>
                <a:schemeClr val="accent3"/>
              </a:buClr>
              <a:buSzPct val="80000"/>
              <a:defRPr/>
            </a:pPr>
            <a:endParaRPr lang="en-US" sz="3387" dirty="0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2D664D26-9ECC-7A88-F857-00CFF2AC85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357" y="1788730"/>
            <a:ext cx="11417286" cy="4196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Simple fixed-length instructions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Load–store architecture model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Modular base-plus-extension design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 and royalty-free ISA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Scalable 32/64/128-bit support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Reduced hardware complexity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 stage </a:t>
            </a:r>
            <a:r>
              <a:rPr lang="en-US" altLang="en-US" dirty="0">
                <a:latin typeface="Arial" panose="020B0604020202020204" pitchFamily="34" charset="0"/>
              </a:rPr>
              <a:t>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fficient pipelined execution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dirty="0">
                <a:latin typeface="Arial" panose="020B0604020202020204" pitchFamily="34" charset="0"/>
              </a:rPr>
              <a:t>32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general-purpose register set (x0 – x31)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condition code registers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 instruction extensibility through extensions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B716CA7-870B-C0D5-BF17-A484DCAA5E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3258" y="2161928"/>
            <a:ext cx="4805662" cy="172481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137E780-EE6B-6980-9277-690419D94D15}"/>
              </a:ext>
            </a:extLst>
          </p:cNvPr>
          <p:cNvSpPr txBox="1"/>
          <p:nvPr/>
        </p:nvSpPr>
        <p:spPr>
          <a:xfrm>
            <a:off x="5603258" y="3936772"/>
            <a:ext cx="4407904" cy="1082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marR="4445" indent="-6350">
              <a:spcAft>
                <a:spcPts val="1000"/>
              </a:spcAft>
              <a:buNone/>
            </a:pPr>
            <a:r>
              <a:rPr lang="en-IN" sz="1400" i="1" kern="100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Figure 3: 5 stage pipeline in RISC V            </a:t>
            </a:r>
          </a:p>
          <a:p>
            <a:pPr marL="6350" marR="4445" indent="-6350">
              <a:spcAft>
                <a:spcPts val="1000"/>
              </a:spcAft>
              <a:buNone/>
            </a:pPr>
            <a:r>
              <a:rPr lang="en-IN" sz="1400" i="1" kern="100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Source</a:t>
            </a:r>
            <a:r>
              <a:rPr lang="en-IN" sz="1400" i="1" kern="100" dirty="0">
                <a:solidFill>
                  <a:srgbClr val="44546A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en-US" sz="1400" i="1" dirty="0"/>
              <a:t> Processor Architecture Design Practices: survey &amp; Issues SADHNA K. MISHRA, ARVIND RAJAWAT, R.P. SINGH,2010</a:t>
            </a:r>
            <a:endParaRPr lang="en-IN" sz="1400" i="1" kern="100" dirty="0">
              <a:solidFill>
                <a:srgbClr val="44546A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2618913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327B7-75B6-3A82-A508-AD103DF900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080" y="274320"/>
            <a:ext cx="11673840" cy="5892799"/>
          </a:xfrm>
        </p:spPr>
        <p:txBody>
          <a:bodyPr>
            <a:normAutofit/>
          </a:bodyPr>
          <a:lstStyle/>
          <a:p>
            <a:r>
              <a:rPr lang="en-US" sz="2000" b="1" dirty="0"/>
              <a:t>RISC-V ISA</a:t>
            </a:r>
            <a:endParaRPr lang="en-IN" sz="20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B8EEE67-BAF8-5538-05F9-9491B6B822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6502" y="690881"/>
            <a:ext cx="9244819" cy="52197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50591B9-E68A-5F57-82D0-38D2407B8083}"/>
              </a:ext>
            </a:extLst>
          </p:cNvPr>
          <p:cNvSpPr txBox="1"/>
          <p:nvPr/>
        </p:nvSpPr>
        <p:spPr>
          <a:xfrm>
            <a:off x="914400" y="5934670"/>
            <a:ext cx="978408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i="1" dirty="0"/>
              <a:t>Figure 4: RISC-V ISA</a:t>
            </a:r>
          </a:p>
          <a:p>
            <a:r>
              <a:rPr lang="en-US" sz="1600" i="1" dirty="0"/>
              <a:t>Source: RISC-V Instruction Set Architecture Extensions: A Survey ENFANG CUI , (Member, IEEE), TIANZHENG LI, AND QIAN WEI), 2023</a:t>
            </a:r>
            <a:endParaRPr lang="en-IN" sz="1600" i="1" dirty="0"/>
          </a:p>
        </p:txBody>
      </p:sp>
    </p:spTree>
    <p:extLst>
      <p:ext uri="{BB962C8B-B14F-4D97-AF65-F5344CB8AC3E}">
        <p14:creationId xmlns:p14="http://schemas.microsoft.com/office/powerpoint/2010/main" val="5917732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04AB1-1685-D293-7247-3F2185ECE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924A7-CBA0-F2C8-56BC-01BD89FA3A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080" y="274320"/>
            <a:ext cx="11673840" cy="5892799"/>
          </a:xfrm>
        </p:spPr>
        <p:txBody>
          <a:bodyPr>
            <a:normAutofit/>
          </a:bodyPr>
          <a:lstStyle/>
          <a:p>
            <a:r>
              <a:rPr lang="en-US" sz="2000" b="1" dirty="0"/>
              <a:t>RISC-V Instructions</a:t>
            </a:r>
          </a:p>
          <a:p>
            <a:endParaRPr lang="en-IN" sz="2000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1AE422B-37F8-4B02-A695-6138CBC811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0252" y="301336"/>
            <a:ext cx="7090611" cy="3252272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:a16="http://schemas.microsoft.com/office/drawing/2014/main" id="{91EAD49E-B44A-A6A1-754E-0DD4102165EB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26719" y="690881"/>
            <a:ext cx="3977638" cy="2534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R-Type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– Register to Register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I-Type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Immediate Operations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S-Type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Store Instructions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B-Type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Branch Instructions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U-Type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Upper Immediate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J-Type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Jump Instructions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F04A5741-4A55-1BF2-87C0-1818822FA3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693" y="3541852"/>
            <a:ext cx="397763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opcode – Defines instruction class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Result register index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rs1 – Operand 1 register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rs2 – Operand 2 register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funct3 – ALU control bits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funct7 – Additional operation bits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Encoded constant operand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8B64BD-A437-D991-F851-A85917A08137}"/>
              </a:ext>
            </a:extLst>
          </p:cNvPr>
          <p:cNvSpPr txBox="1"/>
          <p:nvPr/>
        </p:nvSpPr>
        <p:spPr>
          <a:xfrm>
            <a:off x="4478477" y="4890939"/>
            <a:ext cx="6882385" cy="9592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marR="4445" indent="-6350">
              <a:spcAft>
                <a:spcPts val="1000"/>
              </a:spcAft>
              <a:buNone/>
            </a:pPr>
            <a:r>
              <a:rPr lang="en-IN" sz="1400" i="1" kern="100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N" sz="1600" i="1" kern="100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Figure 5: Different types of instruction and its format in RISC V         </a:t>
            </a:r>
          </a:p>
          <a:p>
            <a:pPr marL="6350" marR="4445" indent="-6350">
              <a:spcAft>
                <a:spcPts val="1000"/>
              </a:spcAft>
              <a:buNone/>
            </a:pPr>
            <a:r>
              <a:rPr lang="en-IN" sz="1600" i="1" kern="100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Source</a:t>
            </a:r>
            <a:r>
              <a:rPr lang="en-IN" sz="1600" i="1" kern="100" dirty="0">
                <a:solidFill>
                  <a:srgbClr val="44546A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sz="1600" i="1" dirty="0"/>
              <a:t>The RISC-V Instruction Set Manual Volume I Unprivileged Architecture Version 20250508, 2019</a:t>
            </a:r>
            <a:endParaRPr lang="en-IN" sz="1600" i="1" kern="100" dirty="0">
              <a:solidFill>
                <a:srgbClr val="44546A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A1BF215-5342-8336-9132-D07585897F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6578" y="3690165"/>
            <a:ext cx="6882385" cy="1148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73503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AF6AC-0771-8033-F385-F2595C26B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3B74D-61F6-87C7-0B07-C51691C45E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080" y="482600"/>
            <a:ext cx="11673840" cy="5892799"/>
          </a:xfrm>
        </p:spPr>
        <p:txBody>
          <a:bodyPr>
            <a:normAutofit/>
          </a:bodyPr>
          <a:lstStyle/>
          <a:p>
            <a:r>
              <a:rPr lang="en-US" sz="2000" b="1" dirty="0"/>
              <a:t>RISC-V Datapath Example</a:t>
            </a:r>
            <a:endParaRPr lang="en-IN" sz="2000" b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D8D34E1-E3D4-473B-04C0-04D2F5CAAB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5301960"/>
              </p:ext>
            </p:extLst>
          </p:nvPr>
        </p:nvGraphicFramePr>
        <p:xfrm>
          <a:off x="1133634" y="5738874"/>
          <a:ext cx="4962366" cy="3742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69282">
                  <a:extLst>
                    <a:ext uri="{9D8B030D-6E8A-4147-A177-3AD203B41FA5}">
                      <a16:colId xmlns:a16="http://schemas.microsoft.com/office/drawing/2014/main" val="3376694346"/>
                    </a:ext>
                  </a:extLst>
                </a:gridCol>
                <a:gridCol w="835561">
                  <a:extLst>
                    <a:ext uri="{9D8B030D-6E8A-4147-A177-3AD203B41FA5}">
                      <a16:colId xmlns:a16="http://schemas.microsoft.com/office/drawing/2014/main" val="1975712436"/>
                    </a:ext>
                  </a:extLst>
                </a:gridCol>
                <a:gridCol w="835561">
                  <a:extLst>
                    <a:ext uri="{9D8B030D-6E8A-4147-A177-3AD203B41FA5}">
                      <a16:colId xmlns:a16="http://schemas.microsoft.com/office/drawing/2014/main" val="627576766"/>
                    </a:ext>
                  </a:extLst>
                </a:gridCol>
                <a:gridCol w="861415">
                  <a:extLst>
                    <a:ext uri="{9D8B030D-6E8A-4147-A177-3AD203B41FA5}">
                      <a16:colId xmlns:a16="http://schemas.microsoft.com/office/drawing/2014/main" val="1617450371"/>
                    </a:ext>
                  </a:extLst>
                </a:gridCol>
                <a:gridCol w="860547">
                  <a:extLst>
                    <a:ext uri="{9D8B030D-6E8A-4147-A177-3AD203B41FA5}">
                      <a16:colId xmlns:a16="http://schemas.microsoft.com/office/drawing/2014/main" val="1247207224"/>
                    </a:ext>
                  </a:extLst>
                </a:gridCol>
              </a:tblGrid>
              <a:tr h="374254">
                <a:tc>
                  <a:txBody>
                    <a:bodyPr/>
                    <a:lstStyle/>
                    <a:p>
                      <a:pPr marL="6350" marR="4445" indent="-6350" algn="l">
                        <a:lnSpc>
                          <a:spcPct val="150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           -4</a:t>
                      </a:r>
                      <a:endParaRPr lang="en-IN" sz="12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350" marR="4445" indent="-6350" algn="l">
                        <a:lnSpc>
                          <a:spcPct val="150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  x9</a:t>
                      </a:r>
                      <a:endParaRPr lang="en-IN" sz="12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350" marR="4445" indent="-6350" algn="l">
                        <a:lnSpc>
                          <a:spcPct val="150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  010</a:t>
                      </a:r>
                      <a:endParaRPr lang="en-IN" sz="12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350" marR="4445" indent="-6350" algn="l">
                        <a:lnSpc>
                          <a:spcPct val="150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IN" sz="1200" kern="100">
                          <a:effectLst/>
                        </a:rPr>
                        <a:t>    x6</a:t>
                      </a:r>
                      <a:endParaRPr lang="en-IN" sz="1200" kern="10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6350" marR="4445" indent="-6350" algn="l">
                        <a:lnSpc>
                          <a:spcPct val="150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IN" sz="1200" kern="100" dirty="0">
                          <a:effectLst/>
                        </a:rPr>
                        <a:t>0000011</a:t>
                      </a:r>
                      <a:endParaRPr lang="en-IN" sz="1200" kern="10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15983464"/>
                  </a:ext>
                </a:extLst>
              </a:tr>
            </a:tbl>
          </a:graphicData>
        </a:graphic>
      </p:graphicFrame>
      <p:sp>
        <p:nvSpPr>
          <p:cNvPr id="6" name="Rectangle 2">
            <a:extLst>
              <a:ext uri="{FF2B5EF4-FFF2-40B4-BE49-F238E27FC236}">
                <a16:creationId xmlns:a16="http://schemas.microsoft.com/office/drawing/2014/main" id="{D18D97E7-9BF2-C70A-A394-0F6433D5C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8836" y="4680074"/>
            <a:ext cx="4123568" cy="374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4097" name="Picture 68">
            <a:extLst>
              <a:ext uri="{FF2B5EF4-FFF2-40B4-BE49-F238E27FC236}">
                <a16:creationId xmlns:a16="http://schemas.microsoft.com/office/drawing/2014/main" id="{6A915643-65D9-2A48-6EF0-59198D7ADE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304" y="5110311"/>
            <a:ext cx="5164100" cy="669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DBFBA1E-62FF-FE2B-DA88-EF50023EC125}"/>
              </a:ext>
            </a:extLst>
          </p:cNvPr>
          <p:cNvSpPr txBox="1"/>
          <p:nvPr/>
        </p:nvSpPr>
        <p:spPr>
          <a:xfrm>
            <a:off x="8479815" y="2125529"/>
            <a:ext cx="267164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i="1" dirty="0"/>
              <a:t>Figure 6: Load Instruction, Single Cycle Datapath  </a:t>
            </a:r>
          </a:p>
          <a:p>
            <a:r>
              <a:rPr lang="en-IN" sz="1600" dirty="0"/>
              <a:t>Source: A. Waterman, Y. Lee, D. A. Patterson, and K. </a:t>
            </a:r>
            <a:r>
              <a:rPr lang="en-IN" sz="1600" dirty="0" err="1"/>
              <a:t>Asanović</a:t>
            </a:r>
            <a:r>
              <a:rPr lang="en-IN" sz="1600" dirty="0"/>
              <a:t>, “The RISC-V Instruction Set Manual, Volume I: Unprivileged ISA”, </a:t>
            </a:r>
          </a:p>
          <a:p>
            <a:r>
              <a:rPr lang="en-IN" sz="1600" dirty="0"/>
              <a:t>Adapted from: Sarah Harri, </a:t>
            </a:r>
            <a:r>
              <a:rPr lang="en-IN" sz="16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https://www.youtube.com/watch?v=AoBkibslRBM</a:t>
            </a:r>
            <a:r>
              <a:rPr lang="en-IN" sz="1600" dirty="0"/>
              <a:t>, 2022 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19FA6DB-D274-253F-2721-9554B62A62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018" y="1012107"/>
            <a:ext cx="7706801" cy="3686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9635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DD6C2-8858-8D60-1887-397E90D36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D6E9A-3767-B2DB-B607-5658481825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080" y="482600"/>
            <a:ext cx="11673840" cy="5892799"/>
          </a:xfrm>
        </p:spPr>
        <p:txBody>
          <a:bodyPr>
            <a:normAutofit fontScale="92500" lnSpcReduction="20000"/>
          </a:bodyPr>
          <a:lstStyle/>
          <a:p>
            <a:r>
              <a:rPr lang="en-US" sz="2000" b="1" dirty="0"/>
              <a:t>RISC-V Extensions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sz="1800" b="1" dirty="0"/>
              <a:t>M</a:t>
            </a:r>
            <a:r>
              <a:rPr lang="en-IN" sz="1800" dirty="0"/>
              <a:t> – Integer Multiplication &amp; Division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sz="1800" b="1" dirty="0"/>
              <a:t>A</a:t>
            </a:r>
            <a:r>
              <a:rPr lang="en-IN" sz="1800" dirty="0"/>
              <a:t> – Atomic Memory Operations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sz="1800" b="1" dirty="0"/>
              <a:t>F</a:t>
            </a:r>
            <a:r>
              <a:rPr lang="en-IN" sz="1800" dirty="0"/>
              <a:t> – Single Precision Floating Point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sz="1800" b="1" dirty="0"/>
              <a:t>D</a:t>
            </a:r>
            <a:r>
              <a:rPr lang="en-IN" sz="1800" dirty="0"/>
              <a:t> – Double Precision Floating Point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sz="1800" b="1" dirty="0"/>
              <a:t>C</a:t>
            </a:r>
            <a:r>
              <a:rPr lang="en-IN" sz="1800" dirty="0"/>
              <a:t> – Compressed 16-bit Instructions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sz="1800" b="1" dirty="0"/>
              <a:t>V</a:t>
            </a:r>
            <a:r>
              <a:rPr lang="en-IN" sz="1800" dirty="0"/>
              <a:t> – Vector Processing Support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sz="1800" b="1" dirty="0"/>
              <a:t>B</a:t>
            </a:r>
            <a:r>
              <a:rPr lang="en-IN" sz="1800" dirty="0"/>
              <a:t> – Bit Manipulation Operations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sz="1800" b="1" dirty="0"/>
              <a:t>H</a:t>
            </a:r>
            <a:r>
              <a:rPr lang="en-IN" sz="1800" dirty="0"/>
              <a:t> – Hypervisor Extension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IN" dirty="0"/>
              <a:t>Example:</a:t>
            </a:r>
            <a:br>
              <a:rPr lang="en-IN" dirty="0"/>
            </a:br>
            <a:r>
              <a:rPr lang="en-IN" dirty="0"/>
              <a:t>IoT → RV32I + C</a:t>
            </a:r>
            <a:br>
              <a:rPr lang="en-IN" dirty="0"/>
            </a:br>
            <a:r>
              <a:rPr lang="en-IN" dirty="0"/>
              <a:t>Server → RV64I + M + A + F + D</a:t>
            </a:r>
            <a:endParaRPr lang="en-US" sz="2000" b="1" dirty="0"/>
          </a:p>
          <a:p>
            <a:pPr marL="457200" lvl="1" indent="0">
              <a:buNone/>
            </a:pPr>
            <a:r>
              <a:rPr lang="en-US" sz="2000" b="1" dirty="0"/>
              <a:t>Features of Extensions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800" dirty="0"/>
              <a:t>Modular design approach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800" dirty="0"/>
              <a:t>Custom extension capability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800" dirty="0"/>
              <a:t>Scalable performance enhancement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800" dirty="0"/>
              <a:t>ISA flexibility support</a:t>
            </a:r>
          </a:p>
          <a:p>
            <a:pPr lvl="1">
              <a:buFont typeface="Wingdings" panose="05000000000000000000" pitchFamily="2" charset="2"/>
              <a:buChar char="q"/>
            </a:pPr>
            <a:r>
              <a:rPr lang="en-US" sz="1800" dirty="0"/>
              <a:t>Application-specific optimization</a:t>
            </a:r>
          </a:p>
          <a:p>
            <a:pPr marL="0" indent="0">
              <a:buNone/>
            </a:pPr>
            <a:endParaRPr lang="en-IN" sz="2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E09168-22B3-8A73-5C0B-6E137C780F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1513" y="895027"/>
            <a:ext cx="7125694" cy="46107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0D4D99A-2CE6-C659-0868-78B91292524B}"/>
              </a:ext>
            </a:extLst>
          </p:cNvPr>
          <p:cNvSpPr txBox="1"/>
          <p:nvPr/>
        </p:nvSpPr>
        <p:spPr>
          <a:xfrm>
            <a:off x="4651513" y="5438578"/>
            <a:ext cx="6882385" cy="866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marR="4445" indent="-6350">
              <a:spcAft>
                <a:spcPts val="1000"/>
              </a:spcAft>
              <a:buNone/>
            </a:pPr>
            <a:r>
              <a:rPr lang="en-IN" sz="1400" i="1" kern="100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IN" sz="1400" kern="100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Figure 7 :Categorization of RISC-V ISA extension works</a:t>
            </a:r>
          </a:p>
          <a:p>
            <a:pPr marL="6350" marR="4445" indent="-6350">
              <a:spcAft>
                <a:spcPts val="1000"/>
              </a:spcAft>
              <a:buNone/>
            </a:pPr>
            <a:r>
              <a:rPr lang="en-IN" sz="1400" kern="100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Source</a:t>
            </a:r>
            <a:r>
              <a:rPr lang="en-IN" sz="1400" i="1" kern="100" dirty="0">
                <a:solidFill>
                  <a:srgbClr val="44546A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en-US" sz="1400" i="1" dirty="0"/>
              <a:t>RISC-V Instruction Set Architecture Extensions: A Survey ENFANG CUI , (Member, IEEE), TIANZHENG LI, AND QIAN WEI, 2023</a:t>
            </a:r>
            <a:endParaRPr lang="en-IN" sz="1400" i="1" kern="100" dirty="0">
              <a:solidFill>
                <a:srgbClr val="44546A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64362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24494"/>
            <a:ext cx="10515600" cy="651010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Applications</a:t>
            </a:r>
            <a:endParaRPr lang="en-IN" sz="3200" b="1" dirty="0">
              <a:latin typeface="+mn-lt"/>
            </a:endParaRPr>
          </a:p>
        </p:txBody>
      </p:sp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77C901CA-F0E0-4FB2-59FD-636A16CEC7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3590" y="1082040"/>
            <a:ext cx="7928410" cy="4434840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30AF4BCE-9B75-4020-8CD8-E4BA158C101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9578" y="641346"/>
            <a:ext cx="3883342" cy="5575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Embedded systems design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IoT devices and sensors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Microcontrollers (MCU based systems)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Edge computing devices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AI/ML accelerators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Automotive control systems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Industrial automation systems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Consumer electronics products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FPGA based processors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 SoC development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99D4A3-4AEE-9C59-9067-F03FC8495EBA}"/>
              </a:ext>
            </a:extLst>
          </p:cNvPr>
          <p:cNvSpPr txBox="1"/>
          <p:nvPr/>
        </p:nvSpPr>
        <p:spPr>
          <a:xfrm>
            <a:off x="4572001" y="5438578"/>
            <a:ext cx="6961898" cy="866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350" marR="4445" indent="-6350">
              <a:spcAft>
                <a:spcPts val="1000"/>
              </a:spcAft>
              <a:buNone/>
            </a:pPr>
            <a:r>
              <a:rPr lang="en-IN" sz="1400" i="1" kern="100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Figure 8 :Application of RISC-V ISA over time</a:t>
            </a:r>
          </a:p>
          <a:p>
            <a:pPr marL="6350" marR="4445" indent="-6350">
              <a:spcAft>
                <a:spcPts val="1000"/>
              </a:spcAft>
              <a:buNone/>
            </a:pPr>
            <a:r>
              <a:rPr lang="en-IN" sz="1400" kern="100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Source</a:t>
            </a:r>
            <a:r>
              <a:rPr lang="en-IN" sz="1400" i="1" kern="100" dirty="0">
                <a:solidFill>
                  <a:srgbClr val="44546A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en-US" sz="1400" i="1" dirty="0"/>
              <a:t>RISC-V Instruction Set Architecture Extensions: A Survey ENFANG CUI , (Member, IEEE), TIANZHENG LI, AND QIAN WEI ), 2023</a:t>
            </a:r>
            <a:endParaRPr lang="en-IN" sz="1400" i="1" kern="100" dirty="0">
              <a:solidFill>
                <a:srgbClr val="44546A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15295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E771833B-1446-7FCA-2795-ED4601B17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522758"/>
            <a:ext cx="8596668" cy="47244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Advantages and Limitations</a:t>
            </a:r>
            <a:endParaRPr lang="en-IN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6AD804-1720-FE50-C73B-BBCA5E9B85DD}"/>
              </a:ext>
            </a:extLst>
          </p:cNvPr>
          <p:cNvSpPr txBox="1"/>
          <p:nvPr/>
        </p:nvSpPr>
        <p:spPr>
          <a:xfrm>
            <a:off x="677334" y="1172766"/>
            <a:ext cx="331554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Advantages of RISC-V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Open-source ISA architecture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No licensing cost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Modular extension support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Custom instruction flexibility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Simple instruction format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Efficient pipelined execution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Scalable (32/64/128-bit)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Strong academic adoption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Limitations of RISC-V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Smaller software ecosystem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Limited legacy support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Fewer mature toolchains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Industry adoption growing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Optimization still evolving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 Compatibility challenges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264A6F7-AE46-9A6A-5790-0C74D116F4E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9597" y="1549864"/>
            <a:ext cx="2451735" cy="1879136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Text Box 1">
            <a:extLst>
              <a:ext uri="{FF2B5EF4-FFF2-40B4-BE49-F238E27FC236}">
                <a16:creationId xmlns:a16="http://schemas.microsoft.com/office/drawing/2014/main" id="{0CAD3CE3-91A4-B1F9-BC7F-D9076A98358F}"/>
              </a:ext>
            </a:extLst>
          </p:cNvPr>
          <p:cNvSpPr txBox="1"/>
          <p:nvPr/>
        </p:nvSpPr>
        <p:spPr>
          <a:xfrm>
            <a:off x="7097077" y="2085572"/>
            <a:ext cx="4211003" cy="1191028"/>
          </a:xfrm>
          <a:prstGeom prst="rect">
            <a:avLst/>
          </a:prstGeom>
          <a:solidFill>
            <a:prstClr val="white"/>
          </a:solidFill>
          <a:ln>
            <a:noFill/>
          </a:ln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6350" marR="4445" indent="-6350" algn="just">
              <a:spcAft>
                <a:spcPts val="1000"/>
              </a:spcAft>
              <a:buNone/>
            </a:pPr>
            <a:r>
              <a:rPr lang="en-IN" sz="1400" i="1" kern="100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Figure 9 </a:t>
            </a:r>
            <a:r>
              <a:rPr lang="en-IN" sz="1400" i="1" kern="100" dirty="0" err="1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Yunsup</a:t>
            </a:r>
            <a:r>
              <a:rPr lang="en-IN" sz="1400" i="1" kern="100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Lee holding RISC V prototype chip. At UC Berkeley Par Lab Winter Retreat, January 2013.</a:t>
            </a:r>
          </a:p>
          <a:p>
            <a:pPr marL="6350" marR="4445" indent="-6350">
              <a:spcAft>
                <a:spcPts val="1000"/>
              </a:spcAft>
              <a:buNone/>
            </a:pPr>
            <a:r>
              <a:rPr lang="en-IN" sz="1400" i="1" kern="100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Source:</a:t>
            </a:r>
            <a:r>
              <a:rPr lang="en-IN" sz="1400" i="1" kern="100" dirty="0">
                <a:solidFill>
                  <a:srgbClr val="44546A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Wikipedia , February 2026 </a:t>
            </a:r>
            <a:r>
              <a:rPr lang="en-IN" sz="1400" i="1" kern="100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https://www.flickr.com/photos/dcoetzee/8694597164/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9E18209-2577-A8DD-E8E7-6AFC21EC514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5352" y="3847743"/>
            <a:ext cx="2254568" cy="1879136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Text Box 1">
            <a:extLst>
              <a:ext uri="{FF2B5EF4-FFF2-40B4-BE49-F238E27FC236}">
                <a16:creationId xmlns:a16="http://schemas.microsoft.com/office/drawing/2014/main" id="{D3E6F949-1DFA-EED2-5317-D4F40DDAF350}"/>
              </a:ext>
            </a:extLst>
          </p:cNvPr>
          <p:cNvSpPr txBox="1"/>
          <p:nvPr/>
        </p:nvSpPr>
        <p:spPr>
          <a:xfrm>
            <a:off x="7097077" y="3964708"/>
            <a:ext cx="4744403" cy="1613131"/>
          </a:xfrm>
          <a:prstGeom prst="rect">
            <a:avLst/>
          </a:prstGeom>
          <a:solidFill>
            <a:prstClr val="white"/>
          </a:solidFill>
          <a:ln>
            <a:noFill/>
          </a:ln>
        </p:spPr>
        <p:txBody>
          <a:bodyPr rot="0" spcFirstLastPara="0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6350" marR="4445" indent="-6350">
              <a:spcAft>
                <a:spcPts val="1000"/>
              </a:spcAft>
              <a:buNone/>
            </a:pPr>
            <a:r>
              <a:rPr lang="en-IN" sz="1400" i="1" kern="100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Figure 10: Framework Laptop 13 containing DC-ROMA RISC-V AI PC motherboard running Ubuntu 24.04, showing </a:t>
            </a:r>
            <a:r>
              <a:rPr lang="en-IN" sz="1400" i="1" kern="100" dirty="0" err="1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neofetch</a:t>
            </a:r>
            <a:r>
              <a:rPr lang="en-IN" sz="1400" i="1" kern="100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output</a:t>
            </a:r>
          </a:p>
          <a:p>
            <a:pPr marL="6350" marR="4445" indent="-6350">
              <a:spcAft>
                <a:spcPts val="1000"/>
              </a:spcAft>
              <a:buNone/>
            </a:pPr>
            <a:r>
              <a:rPr lang="en-IN" sz="1400" i="1" kern="100" dirty="0">
                <a:solidFill>
                  <a:srgbClr val="44546A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Source: Wikipedia , February 2026 https://upload.wikimedia.org/wikipedia/commons/thumb/8/84/DC_ROMA_AI_PC_Framework_Laptop_13_Ubuntu.jpg/960px-DC_ROMA_AI_PC_Framework_Laptop_13_Ubuntu.jpg</a:t>
            </a:r>
          </a:p>
          <a:p>
            <a:pPr marL="6350" marR="4445" indent="-6350" algn="just">
              <a:spcAft>
                <a:spcPts val="1000"/>
              </a:spcAft>
              <a:buNone/>
            </a:pPr>
            <a:r>
              <a:rPr lang="en-IN" sz="1400" i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endParaRPr lang="en-IN" sz="1400" i="1" kern="100" dirty="0">
              <a:solidFill>
                <a:srgbClr val="44546A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1839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5040" y="742941"/>
            <a:ext cx="10358120" cy="538480"/>
          </a:xfrm>
        </p:spPr>
        <p:txBody>
          <a:bodyPr>
            <a:normAutofit fontScale="90000"/>
          </a:bodyPr>
          <a:lstStyle/>
          <a:p>
            <a:r>
              <a:rPr lang="en-US" sz="3200" b="1" dirty="0"/>
              <a:t>Future Work</a:t>
            </a:r>
            <a:endParaRPr lang="en-IN" sz="3200" b="1" dirty="0">
              <a:latin typeface="+mn-lt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3A490F66-A9A5-D939-2631-0426FA16B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5040" y="1510021"/>
            <a:ext cx="4947920" cy="2949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 ISA extensions for AI/ML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Vector (V) extension optimization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Low-power IoT processor design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Secure boot &amp; hardware security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FPGA prototyping and validation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Compiler and toolchain enhancement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Multi-core &amp; heterogeneous SoC integration</a:t>
            </a:r>
          </a:p>
        </p:txBody>
      </p:sp>
    </p:spTree>
    <p:extLst>
      <p:ext uri="{BB962C8B-B14F-4D97-AF65-F5344CB8AC3E}">
        <p14:creationId xmlns:p14="http://schemas.microsoft.com/office/powerpoint/2010/main" val="3841839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E68F6-BB8D-661D-F094-F19650DDE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9E979-0CE0-2E9B-C67D-CD18FEE8F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1283"/>
            <a:ext cx="10515600" cy="545432"/>
          </a:xfrm>
        </p:spPr>
        <p:txBody>
          <a:bodyPr>
            <a:normAutofit fontScale="90000"/>
          </a:bodyPr>
          <a:lstStyle/>
          <a:p>
            <a:r>
              <a:rPr lang="en-US" sz="3200" b="1" dirty="0"/>
              <a:t>Conclusion</a:t>
            </a:r>
            <a:endParaRPr lang="en-IN" sz="3200" b="1" dirty="0">
              <a:latin typeface="+mn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BABC15-5665-BDD7-BF1E-8CC82BCD5DD4}"/>
              </a:ext>
            </a:extLst>
          </p:cNvPr>
          <p:cNvSpPr txBox="1"/>
          <p:nvPr/>
        </p:nvSpPr>
        <p:spPr>
          <a:xfrm>
            <a:off x="967740" y="1511488"/>
            <a:ext cx="3672840" cy="337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RISC-V is open-standard ISA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Based on RISC principles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Modular base + extensions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Simple and efficient design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Supports customization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Scalable 32/64/128-bit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Growing industry adoption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Strong future potential</a:t>
            </a:r>
          </a:p>
        </p:txBody>
      </p:sp>
    </p:spTree>
    <p:extLst>
      <p:ext uri="{BB962C8B-B14F-4D97-AF65-F5344CB8AC3E}">
        <p14:creationId xmlns:p14="http://schemas.microsoft.com/office/powerpoint/2010/main" val="24816123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2029693" y="399718"/>
            <a:ext cx="8132613" cy="580628"/>
          </a:xfrm>
        </p:spPr>
        <p:txBody>
          <a:bodyPr>
            <a:normAutofit/>
          </a:bodyPr>
          <a:lstStyle/>
          <a:p>
            <a:pPr algn="ctr"/>
            <a:r>
              <a:rPr lang="en-US" sz="2857" b="1" dirty="0">
                <a:latin typeface="Arial" pitchFamily="34" charset="0"/>
                <a:cs typeface="Arial" pitchFamily="34" charset="0"/>
              </a:rPr>
              <a:t>References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1485605" y="907452"/>
            <a:ext cx="9450405" cy="5043096"/>
          </a:xfrm>
        </p:spPr>
        <p:txBody>
          <a:bodyPr>
            <a:noAutofit/>
          </a:bodyPr>
          <a:lstStyle/>
          <a:p>
            <a:pPr lvl="0" algn="just">
              <a:lnSpc>
                <a:spcPct val="150000"/>
              </a:lnSpc>
              <a:spcBef>
                <a:spcPts val="635"/>
              </a:spcBef>
              <a:buNone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spcBef>
                <a:spcPts val="635"/>
              </a:spcBef>
              <a:buNone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lnSpc>
                <a:spcPct val="150000"/>
              </a:lnSpc>
              <a:spcBef>
                <a:spcPts val="635"/>
              </a:spcBef>
              <a:buNone/>
            </a:pPr>
            <a:endParaRPr lang="en-US" sz="1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buNone/>
              <a:defRPr/>
            </a:pPr>
            <a:fld id="{7C3B0A52-9DFB-44F1-9FC5-2E36131076EC}" type="slidenum">
              <a:rPr lang="en-US" smtClean="0"/>
              <a:pPr>
                <a:buNone/>
                <a:defRPr/>
              </a:pPr>
              <a:t>17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FFDFF4-C74A-0292-499C-ECE2A6C9F39B}"/>
              </a:ext>
            </a:extLst>
          </p:cNvPr>
          <p:cNvSpPr txBox="1"/>
          <p:nvPr/>
        </p:nvSpPr>
        <p:spPr>
          <a:xfrm>
            <a:off x="1255990" y="1342293"/>
            <a:ext cx="945040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dirty="0"/>
              <a:t>[1] D. A. Patterson and D. R. Ditzel, “The Case for the Reduced Instruction Set Computer,” </a:t>
            </a:r>
            <a:r>
              <a:rPr lang="en-IN" sz="2000" i="1" dirty="0"/>
              <a:t>ACM SIGARCH Computer Architecture News</a:t>
            </a:r>
            <a:r>
              <a:rPr lang="en-IN" sz="2000" dirty="0"/>
              <a:t>, vol. 8, no. 6, pp. 25–33, 1980.</a:t>
            </a:r>
          </a:p>
          <a:p>
            <a:pPr>
              <a:buNone/>
            </a:pPr>
            <a:r>
              <a:rPr lang="en-IN" sz="2000" dirty="0"/>
              <a:t>[2] D. A. Patterson, Carlo H. Sequin, “RISC I: A Reduced Instruction Set VLSI Computer,” </a:t>
            </a:r>
            <a:r>
              <a:rPr lang="en-IN" sz="2000" i="1" dirty="0"/>
              <a:t>Proceedings of ISCA</a:t>
            </a:r>
            <a:r>
              <a:rPr lang="en-IN" sz="2000" dirty="0"/>
              <a:t>, 1981.</a:t>
            </a:r>
          </a:p>
          <a:p>
            <a:pPr>
              <a:buNone/>
            </a:pPr>
            <a:r>
              <a:rPr lang="en-IN" sz="2000" dirty="0"/>
              <a:t>[3] A. Waterman and K. </a:t>
            </a:r>
            <a:r>
              <a:rPr lang="en-IN" sz="2000" dirty="0" err="1"/>
              <a:t>Asanović</a:t>
            </a:r>
            <a:r>
              <a:rPr lang="en-IN" sz="2000" dirty="0"/>
              <a:t>, </a:t>
            </a:r>
            <a:r>
              <a:rPr lang="en-IN" sz="2000" i="1" dirty="0"/>
              <a:t>The RISC-V Instruction Set Manual, Volume I: Unprivileged ISA</a:t>
            </a:r>
            <a:r>
              <a:rPr lang="en-IN" sz="2000" dirty="0"/>
              <a:t>, University of California, Berkeley, 2011–2023.</a:t>
            </a:r>
          </a:p>
          <a:p>
            <a:pPr>
              <a:buNone/>
            </a:pPr>
            <a:r>
              <a:rPr lang="en-IN" sz="2000" dirty="0"/>
              <a:t>[4] Y. Lee., “A Survey of RISC-V Architecture and Its Applications,” </a:t>
            </a:r>
            <a:r>
              <a:rPr lang="en-IN" sz="2000" i="1" dirty="0"/>
              <a:t>IEEE Access</a:t>
            </a:r>
            <a:r>
              <a:rPr lang="en-IN" sz="2000" dirty="0"/>
              <a:t>, vol. 7, pp. 100101–100120, 2019.</a:t>
            </a:r>
          </a:p>
          <a:p>
            <a:pPr>
              <a:buNone/>
            </a:pPr>
            <a:r>
              <a:rPr lang="en-IN" sz="2000" dirty="0"/>
              <a:t>[5] D. A. Patterson and J. L. Hennessy, </a:t>
            </a:r>
            <a:r>
              <a:rPr lang="en-IN" sz="2000" i="1" dirty="0"/>
              <a:t>Computer Organization and Design: RISC-V Edition</a:t>
            </a:r>
            <a:r>
              <a:rPr lang="en-IN" sz="2000" dirty="0"/>
              <a:t>, Morgan Kaufmann, 2017.</a:t>
            </a:r>
          </a:p>
          <a:p>
            <a:pPr>
              <a:buNone/>
            </a:pPr>
            <a:r>
              <a:rPr lang="en-IN" sz="2000" dirty="0"/>
              <a:t>[6] E. Cui, T. Li, and Q. Wei, “RISC-V Instruction Set Architecture Extensions: A Survey,” </a:t>
            </a:r>
            <a:r>
              <a:rPr lang="en-IN" sz="2000" i="1" dirty="0"/>
              <a:t>IEEE Access</a:t>
            </a:r>
            <a:r>
              <a:rPr lang="en-IN" sz="2000" dirty="0"/>
              <a:t>, 2022</a:t>
            </a:r>
          </a:p>
        </p:txBody>
      </p:sp>
    </p:spTree>
    <p:extLst>
      <p:ext uri="{BB962C8B-B14F-4D97-AF65-F5344CB8AC3E}">
        <p14:creationId xmlns:p14="http://schemas.microsoft.com/office/powerpoint/2010/main" val="11002949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B14F134-725D-87F2-450A-3A6DD4F44004}"/>
              </a:ext>
            </a:extLst>
          </p:cNvPr>
          <p:cNvSpPr/>
          <p:nvPr/>
        </p:nvSpPr>
        <p:spPr>
          <a:xfrm>
            <a:off x="3847195" y="2967335"/>
            <a:ext cx="4497609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THANK YOU</a:t>
            </a:r>
            <a:endParaRPr lang="en-US" sz="5400" b="1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0855542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07 - 2010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 format_B.Tech</Template>
  <TotalTime>456</TotalTime>
  <Words>1429</Words>
  <Application>Microsoft Office PowerPoint</Application>
  <PresentationFormat>Widescreen</PresentationFormat>
  <Paragraphs>249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Times New Roman</vt:lpstr>
      <vt:lpstr>Wingdings</vt:lpstr>
      <vt:lpstr>Wingdings 3</vt:lpstr>
      <vt:lpstr>Facet</vt:lpstr>
      <vt:lpstr> RISC-V PROCESSOR: ARCHITECTURE AND ITS APPLICATION</vt:lpstr>
      <vt:lpstr>Outline of Presentation</vt:lpstr>
      <vt:lpstr>Introduction</vt:lpstr>
      <vt:lpstr>PowerPoint Presentation</vt:lpstr>
      <vt:lpstr>PowerPoint Presentation</vt:lpstr>
      <vt:lpstr>Literature Review</vt:lpstr>
      <vt:lpstr>PowerPoint Presentation</vt:lpstr>
      <vt:lpstr>Methodology and Technical Details</vt:lpstr>
      <vt:lpstr>PowerPoint Presentation</vt:lpstr>
      <vt:lpstr>PowerPoint Presentation</vt:lpstr>
      <vt:lpstr>PowerPoint Presentation</vt:lpstr>
      <vt:lpstr>PowerPoint Presentation</vt:lpstr>
      <vt:lpstr>Applications</vt:lpstr>
      <vt:lpstr>Advantages and Limitations</vt:lpstr>
      <vt:lpstr>Future Work</vt:lpstr>
      <vt:lpstr>Conclusion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Suryansh Shukla</dc:creator>
  <cp:lastModifiedBy>Suryansh Shukla</cp:lastModifiedBy>
  <cp:revision>9</cp:revision>
  <dcterms:created xsi:type="dcterms:W3CDTF">2026-02-24T18:44:47Z</dcterms:created>
  <dcterms:modified xsi:type="dcterms:W3CDTF">2026-02-26T07:00:51Z</dcterms:modified>
</cp:coreProperties>
</file>